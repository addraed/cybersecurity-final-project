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</p:sldIdLst>
  <p:sldSz cy="5143500" cx="9144000"/>
  <p:notesSz cx="51435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14" roundtripDataSignature="AMtx7miBev5Dkg4Ply458GkDk07oGhXbK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4" Type="http://customschemas.google.com/relationships/presentationmetadata" Target="metadata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4" name="Google Shape;34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5" name="Google Shape;35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1" name="Google Shape;71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72" name="Google Shape;72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6" name="Google Shape;106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07" name="Google Shape;107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3" name="Google Shape;143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44" name="Google Shape;144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1" name="Google Shape;191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92" name="Google Shape;192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4" name="Google Shape;234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35" name="Google Shape;235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7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9" name="Google Shape;279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80" name="Google Shape;280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2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04" name="Google Shape;304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05" name="Google Shape;305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E2761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4FC3F7"/>
          </a:solidFill>
          <a:ln cap="flat" cmpd="sng" w="12700">
            <a:solidFill>
              <a:srgbClr val="4FC3F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" name="Google Shape;17;p1"/>
          <p:cNvSpPr/>
          <p:nvPr/>
        </p:nvSpPr>
        <p:spPr>
          <a:xfrm>
            <a:off x="914400" y="640080"/>
            <a:ext cx="1280160" cy="1280160"/>
          </a:xfrm>
          <a:prstGeom prst="ellipse">
            <a:avLst/>
          </a:prstGeom>
          <a:solidFill>
            <a:srgbClr val="1A3A6E"/>
          </a:solidFill>
          <a:ln cap="flat" cmpd="sng" w="25400">
            <a:solidFill>
              <a:srgbClr val="4FC3F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" name="Google Shape;18;p1"/>
          <p:cNvSpPr/>
          <p:nvPr/>
        </p:nvSpPr>
        <p:spPr>
          <a:xfrm>
            <a:off x="457200" y="2011680"/>
            <a:ext cx="530352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400"/>
              <a:buFont typeface="Calibri"/>
              <a:buNone/>
            </a:pPr>
            <a:r>
              <a:rPr b="1" lang="en-US" sz="34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INFORME PENTESTING</a:t>
            </a:r>
            <a:endParaRPr b="0" i="0" sz="3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" name="Google Shape;19;p1"/>
          <p:cNvSpPr/>
          <p:nvPr/>
        </p:nvSpPr>
        <p:spPr>
          <a:xfrm>
            <a:off x="457200" y="2606040"/>
            <a:ext cx="53035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2200"/>
              <a:buFont typeface="Calibri"/>
              <a:buNone/>
            </a:pPr>
            <a:r>
              <a:rPr b="0" i="0" lang="en-US" sz="220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Incidente de Ciberseguridad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" name="Google Shape;20;p1"/>
          <p:cNvSpPr/>
          <p:nvPr/>
        </p:nvSpPr>
        <p:spPr>
          <a:xfrm>
            <a:off x="457200" y="3017520"/>
            <a:ext cx="53035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FC3F7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rgbClr val="4FC3F7"/>
                </a:solidFill>
                <a:latin typeface="Calibri"/>
                <a:ea typeface="Calibri"/>
                <a:cs typeface="Calibri"/>
                <a:sym typeface="Calibri"/>
              </a:rPr>
              <a:t>4Geeks Academy </a:t>
            </a:r>
            <a:r>
              <a:rPr lang="en-US" sz="1600">
                <a:solidFill>
                  <a:srgbClr val="4FC3F7"/>
                </a:solidFill>
                <a:latin typeface="Calibri"/>
                <a:ea typeface="Calibri"/>
                <a:cs typeface="Calibri"/>
                <a:sym typeface="Calibri"/>
              </a:rPr>
              <a:t>-</a:t>
            </a:r>
            <a:r>
              <a:rPr b="0" i="0" lang="en-US" sz="1600" u="none" cap="none" strike="noStrike">
                <a:solidFill>
                  <a:srgbClr val="4FC3F7"/>
                </a:solidFill>
                <a:latin typeface="Calibri"/>
                <a:ea typeface="Calibri"/>
                <a:cs typeface="Calibri"/>
                <a:sym typeface="Calibri"/>
              </a:rPr>
              <a:t> Servidor </a:t>
            </a:r>
            <a:r>
              <a:rPr lang="en-US" sz="1600">
                <a:solidFill>
                  <a:srgbClr val="4FC3F7"/>
                </a:solidFill>
                <a:latin typeface="Calibri"/>
                <a:ea typeface="Calibri"/>
                <a:cs typeface="Calibri"/>
                <a:sym typeface="Calibri"/>
              </a:rPr>
              <a:t>DEBIAN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1" name="Google Shape;21;p1"/>
          <p:cNvCxnSpPr/>
          <p:nvPr/>
        </p:nvCxnSpPr>
        <p:spPr>
          <a:xfrm>
            <a:off x="457200" y="3520440"/>
            <a:ext cx="5029200" cy="0"/>
          </a:xfrm>
          <a:prstGeom prst="straightConnector1">
            <a:avLst/>
          </a:prstGeom>
          <a:noFill/>
          <a:ln cap="flat" cmpd="sng" w="19050">
            <a:solidFill>
              <a:srgbClr val="4FC3F7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2" name="Google Shape;22;p1"/>
          <p:cNvSpPr/>
          <p:nvPr/>
        </p:nvSpPr>
        <p:spPr>
          <a:xfrm>
            <a:off x="457200" y="3657600"/>
            <a:ext cx="5029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Analista: </a:t>
            </a:r>
            <a:r>
              <a:rPr lang="en-US" sz="1300">
                <a:solidFill>
                  <a:srgbClr val="8A9BB5"/>
                </a:solidFill>
                <a:latin typeface="Calibri"/>
                <a:ea typeface="Calibri"/>
                <a:cs typeface="Calibri"/>
                <a:sym typeface="Calibri"/>
              </a:rPr>
              <a:t>Manuel Rosario Marín Fernández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" name="Google Shape;23;p1"/>
          <p:cNvSpPr/>
          <p:nvPr/>
        </p:nvSpPr>
        <p:spPr>
          <a:xfrm>
            <a:off x="457200" y="3931920"/>
            <a:ext cx="5029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Fecha: </a:t>
            </a:r>
            <a:r>
              <a:rPr b="0" i="0" lang="en-US" sz="1300" u="none" cap="none" strike="noStrike">
                <a:solidFill>
                  <a:srgbClr val="8A9BB5"/>
                </a:solidFill>
                <a:latin typeface="Calibri"/>
                <a:ea typeface="Calibri"/>
                <a:cs typeface="Calibri"/>
                <a:sym typeface="Calibri"/>
              </a:rPr>
              <a:t>19 de marzo de 2026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" name="Google Shape;24;p1"/>
          <p:cNvSpPr/>
          <p:nvPr/>
        </p:nvSpPr>
        <p:spPr>
          <a:xfrm>
            <a:off x="5943600" y="914400"/>
            <a:ext cx="2834640" cy="3200400"/>
          </a:xfrm>
          <a:prstGeom prst="rect">
            <a:avLst/>
          </a:prstGeom>
          <a:solidFill>
            <a:srgbClr val="162050"/>
          </a:solidFill>
          <a:ln cap="flat" cmpd="sng" w="12700">
            <a:solidFill>
              <a:srgbClr val="4FC3F7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" name="Google Shape;25;p1"/>
          <p:cNvSpPr/>
          <p:nvPr/>
        </p:nvSpPr>
        <p:spPr>
          <a:xfrm>
            <a:off x="5943575" y="1112553"/>
            <a:ext cx="28347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FC3F7"/>
              </a:buClr>
              <a:buSzPts val="1100"/>
              <a:buFont typeface="Calibri"/>
              <a:buNone/>
            </a:pPr>
            <a:r>
              <a:rPr b="1" i="0" lang="en-US" sz="1800" u="none" cap="none" strike="noStrike">
                <a:solidFill>
                  <a:srgbClr val="4FC3F7"/>
                </a:solidFill>
                <a:latin typeface="Calibri"/>
                <a:ea typeface="Calibri"/>
                <a:cs typeface="Calibri"/>
                <a:sym typeface="Calibri"/>
              </a:rPr>
              <a:t>INCIDENTE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6" name="Google Shape;26;p1"/>
          <p:cNvCxnSpPr/>
          <p:nvPr/>
        </p:nvCxnSpPr>
        <p:spPr>
          <a:xfrm>
            <a:off x="6126493" y="1646160"/>
            <a:ext cx="2469000" cy="0"/>
          </a:xfrm>
          <a:prstGeom prst="straightConnector1">
            <a:avLst/>
          </a:prstGeom>
          <a:noFill/>
          <a:ln cap="flat" cmpd="sng" w="9525">
            <a:solidFill>
              <a:srgbClr val="4FC3F7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7" name="Google Shape;27;p1"/>
          <p:cNvSpPr/>
          <p:nvPr/>
        </p:nvSpPr>
        <p:spPr>
          <a:xfrm>
            <a:off x="5943600" y="1760325"/>
            <a:ext cx="28347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8 Oct 2024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17:40:59 EDT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" name="Google Shape;28;p1"/>
          <p:cNvSpPr/>
          <p:nvPr/>
        </p:nvSpPr>
        <p:spPr>
          <a:xfrm>
            <a:off x="5943600" y="2423160"/>
            <a:ext cx="28346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A9BB5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8A9BB5"/>
                </a:solidFill>
                <a:latin typeface="Calibri"/>
                <a:ea typeface="Calibri"/>
                <a:cs typeface="Calibri"/>
                <a:sym typeface="Calibri"/>
              </a:rPr>
              <a:t>Acceso root no autorizado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A9BB5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8A9BB5"/>
                </a:solidFill>
                <a:latin typeface="Calibri"/>
                <a:ea typeface="Calibri"/>
                <a:cs typeface="Calibri"/>
                <a:sym typeface="Calibri"/>
              </a:rPr>
              <a:t>desde 192.168.0.134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" name="Google Shape;29;p1"/>
          <p:cNvSpPr/>
          <p:nvPr/>
        </p:nvSpPr>
        <p:spPr>
          <a:xfrm>
            <a:off x="6446520" y="2971800"/>
            <a:ext cx="1828800" cy="347472"/>
          </a:xfrm>
          <a:prstGeom prst="rect">
            <a:avLst/>
          </a:prstGeom>
          <a:solidFill>
            <a:srgbClr val="D62839"/>
          </a:solidFill>
          <a:ln cap="flat" cmpd="sng" w="12700">
            <a:solidFill>
              <a:srgbClr val="D6283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" name="Google Shape;30;p1"/>
          <p:cNvSpPr/>
          <p:nvPr/>
        </p:nvSpPr>
        <p:spPr>
          <a:xfrm>
            <a:off x="6446520" y="2971800"/>
            <a:ext cx="18288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P1 </a:t>
            </a:r>
            <a:r>
              <a:rPr b="1" lang="en-US" sz="13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-</a:t>
            </a: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CRÍTICO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1" name="Google Shape;31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01035" y="441963"/>
            <a:ext cx="1706880" cy="17068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6FB"/>
        </a:solidFill>
      </p:bgPr>
    </p:bg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2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E2761"/>
          </a:solidFill>
          <a:ln cap="flat" cmpd="sng" w="12700">
            <a:solidFill>
              <a:srgbClr val="1E276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" name="Google Shape;38;p2"/>
          <p:cNvSpPr/>
          <p:nvPr/>
        </p:nvSpPr>
        <p:spPr>
          <a:xfrm>
            <a:off x="365760" y="0"/>
            <a:ext cx="841248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Calibri"/>
              <a:buNone/>
            </a:pPr>
            <a:r>
              <a:rPr b="1" i="0" lang="en-US" sz="2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CONTENIDO DE LA PRESENTACIÓN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" name="Google Shape;39;p2"/>
          <p:cNvSpPr/>
          <p:nvPr/>
        </p:nvSpPr>
        <p:spPr>
          <a:xfrm>
            <a:off x="365760" y="1005840"/>
            <a:ext cx="4023360" cy="9144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CADCFC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" name="Google Shape;40;p2"/>
          <p:cNvSpPr/>
          <p:nvPr/>
        </p:nvSpPr>
        <p:spPr>
          <a:xfrm>
            <a:off x="365760" y="1005840"/>
            <a:ext cx="502920" cy="914400"/>
          </a:xfrm>
          <a:prstGeom prst="rect">
            <a:avLst/>
          </a:prstGeom>
          <a:solidFill>
            <a:srgbClr val="1E2761"/>
          </a:solidFill>
          <a:ln cap="flat" cmpd="sng" w="12700">
            <a:solidFill>
              <a:srgbClr val="1E276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" name="Google Shape;41;p2"/>
          <p:cNvSpPr/>
          <p:nvPr/>
        </p:nvSpPr>
        <p:spPr>
          <a:xfrm>
            <a:off x="365760" y="1005840"/>
            <a:ext cx="50292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FC3F7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rgbClr val="4FC3F7"/>
                </a:solidFill>
                <a:latin typeface="Calibri"/>
                <a:ea typeface="Calibri"/>
                <a:cs typeface="Calibri"/>
                <a:sym typeface="Calibri"/>
              </a:rPr>
              <a:t>01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" name="Google Shape;42;p2"/>
          <p:cNvSpPr/>
          <p:nvPr/>
        </p:nvSpPr>
        <p:spPr>
          <a:xfrm>
            <a:off x="960120" y="1097280"/>
            <a:ext cx="33375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Resumen del incidente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" name="Google Shape;43;p2"/>
          <p:cNvSpPr/>
          <p:nvPr/>
        </p:nvSpPr>
        <p:spPr>
          <a:xfrm>
            <a:off x="960120" y="1481328"/>
            <a:ext cx="33375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A9BB5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8A9BB5"/>
                </a:solidFill>
                <a:latin typeface="Calibri"/>
                <a:ea typeface="Calibri"/>
                <a:cs typeface="Calibri"/>
                <a:sym typeface="Calibri"/>
              </a:rPr>
              <a:t>Qué ocurrió, cuándo y cómo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" name="Google Shape;44;p2"/>
          <p:cNvSpPr/>
          <p:nvPr/>
        </p:nvSpPr>
        <p:spPr>
          <a:xfrm>
            <a:off x="365760" y="2194560"/>
            <a:ext cx="4023360" cy="9144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CADCFC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" name="Google Shape;45;p2"/>
          <p:cNvSpPr/>
          <p:nvPr/>
        </p:nvSpPr>
        <p:spPr>
          <a:xfrm>
            <a:off x="365760" y="2194560"/>
            <a:ext cx="502920" cy="914400"/>
          </a:xfrm>
          <a:prstGeom prst="rect">
            <a:avLst/>
          </a:prstGeom>
          <a:solidFill>
            <a:srgbClr val="1E2761"/>
          </a:solidFill>
          <a:ln cap="flat" cmpd="sng" w="12700">
            <a:solidFill>
              <a:srgbClr val="1E276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" name="Google Shape;46;p2"/>
          <p:cNvSpPr/>
          <p:nvPr/>
        </p:nvSpPr>
        <p:spPr>
          <a:xfrm>
            <a:off x="365760" y="2194560"/>
            <a:ext cx="50292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FC3F7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rgbClr val="4FC3F7"/>
                </a:solidFill>
                <a:latin typeface="Calibri"/>
                <a:ea typeface="Calibri"/>
                <a:cs typeface="Calibri"/>
                <a:sym typeface="Calibri"/>
              </a:rPr>
              <a:t>02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" name="Google Shape;47;p2"/>
          <p:cNvSpPr/>
          <p:nvPr/>
        </p:nvSpPr>
        <p:spPr>
          <a:xfrm>
            <a:off x="960120" y="2286000"/>
            <a:ext cx="33375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Análisis forense </a:t>
            </a:r>
            <a:r>
              <a:rPr b="1" lang="en-US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-</a:t>
            </a:r>
            <a:r>
              <a:rPr b="1" i="0" lang="en-US" sz="14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 Fase 1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" name="Google Shape;48;p2"/>
          <p:cNvSpPr/>
          <p:nvPr/>
        </p:nvSpPr>
        <p:spPr>
          <a:xfrm>
            <a:off x="960120" y="2670048"/>
            <a:ext cx="33375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A9BB5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8A9BB5"/>
                </a:solidFill>
                <a:latin typeface="Calibri"/>
                <a:ea typeface="Calibri"/>
                <a:cs typeface="Calibri"/>
                <a:sym typeface="Calibri"/>
              </a:rPr>
              <a:t>Vulnerabilidades identificadas y evidencias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" name="Google Shape;49;p2"/>
          <p:cNvSpPr/>
          <p:nvPr/>
        </p:nvSpPr>
        <p:spPr>
          <a:xfrm>
            <a:off x="365760" y="3383280"/>
            <a:ext cx="4023360" cy="9144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CADCFC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" name="Google Shape;50;p2"/>
          <p:cNvSpPr/>
          <p:nvPr/>
        </p:nvSpPr>
        <p:spPr>
          <a:xfrm>
            <a:off x="365760" y="3383280"/>
            <a:ext cx="502920" cy="914400"/>
          </a:xfrm>
          <a:prstGeom prst="rect">
            <a:avLst/>
          </a:prstGeom>
          <a:solidFill>
            <a:srgbClr val="1E2761"/>
          </a:solidFill>
          <a:ln cap="flat" cmpd="sng" w="12700">
            <a:solidFill>
              <a:srgbClr val="1E276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" name="Google Shape;51;p2"/>
          <p:cNvSpPr/>
          <p:nvPr/>
        </p:nvSpPr>
        <p:spPr>
          <a:xfrm>
            <a:off x="365760" y="3383280"/>
            <a:ext cx="50292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FC3F7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rgbClr val="4FC3F7"/>
                </a:solidFill>
                <a:latin typeface="Calibri"/>
                <a:ea typeface="Calibri"/>
                <a:cs typeface="Calibri"/>
                <a:sym typeface="Calibri"/>
              </a:rPr>
              <a:t>03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" name="Google Shape;52;p2"/>
          <p:cNvSpPr/>
          <p:nvPr/>
        </p:nvSpPr>
        <p:spPr>
          <a:xfrm>
            <a:off x="960120" y="3474720"/>
            <a:ext cx="33375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Pentesting </a:t>
            </a:r>
            <a:r>
              <a:rPr b="1" lang="en-US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-</a:t>
            </a:r>
            <a:r>
              <a:rPr b="1" i="0" lang="en-US" sz="14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 Fase 2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" name="Google Shape;53;p2"/>
          <p:cNvSpPr/>
          <p:nvPr/>
        </p:nvSpPr>
        <p:spPr>
          <a:xfrm>
            <a:off x="960120" y="3858768"/>
            <a:ext cx="33375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A9BB5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8A9BB5"/>
                </a:solidFill>
                <a:latin typeface="Calibri"/>
                <a:ea typeface="Calibri"/>
                <a:cs typeface="Calibri"/>
                <a:sym typeface="Calibri"/>
              </a:rPr>
              <a:t>Nuevas vulnerabilidades detectadas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" name="Google Shape;54;p2"/>
          <p:cNvSpPr/>
          <p:nvPr/>
        </p:nvSpPr>
        <p:spPr>
          <a:xfrm>
            <a:off x="4754880" y="1005840"/>
            <a:ext cx="4023360" cy="9144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CADCFC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" name="Google Shape;55;p2"/>
          <p:cNvSpPr/>
          <p:nvPr/>
        </p:nvSpPr>
        <p:spPr>
          <a:xfrm>
            <a:off x="4754880" y="1005840"/>
            <a:ext cx="502920" cy="914400"/>
          </a:xfrm>
          <a:prstGeom prst="rect">
            <a:avLst/>
          </a:prstGeom>
          <a:solidFill>
            <a:srgbClr val="1E2761"/>
          </a:solidFill>
          <a:ln cap="flat" cmpd="sng" w="12700">
            <a:solidFill>
              <a:srgbClr val="1E276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" name="Google Shape;56;p2"/>
          <p:cNvSpPr/>
          <p:nvPr/>
        </p:nvSpPr>
        <p:spPr>
          <a:xfrm>
            <a:off x="4754880" y="1005840"/>
            <a:ext cx="50292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FC3F7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rgbClr val="4FC3F7"/>
                </a:solidFill>
                <a:latin typeface="Calibri"/>
                <a:ea typeface="Calibri"/>
                <a:cs typeface="Calibri"/>
                <a:sym typeface="Calibri"/>
              </a:rPr>
              <a:t>04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" name="Google Shape;57;p2"/>
          <p:cNvSpPr/>
          <p:nvPr/>
        </p:nvSpPr>
        <p:spPr>
          <a:xfrm>
            <a:off x="5349240" y="1097280"/>
            <a:ext cx="33375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Acciones correctivas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" name="Google Shape;58;p2"/>
          <p:cNvSpPr/>
          <p:nvPr/>
        </p:nvSpPr>
        <p:spPr>
          <a:xfrm>
            <a:off x="5349240" y="1481328"/>
            <a:ext cx="33375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A9BB5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8A9BB5"/>
                </a:solidFill>
                <a:latin typeface="Calibri"/>
                <a:ea typeface="Calibri"/>
                <a:cs typeface="Calibri"/>
                <a:sym typeface="Calibri"/>
              </a:rPr>
              <a:t>Remediaciones aplicadas y verificadas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" name="Google Shape;59;p2"/>
          <p:cNvSpPr/>
          <p:nvPr/>
        </p:nvSpPr>
        <p:spPr>
          <a:xfrm>
            <a:off x="4754880" y="2194560"/>
            <a:ext cx="4023360" cy="9144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CADCFC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" name="Google Shape;60;p2"/>
          <p:cNvSpPr/>
          <p:nvPr/>
        </p:nvSpPr>
        <p:spPr>
          <a:xfrm>
            <a:off x="4754880" y="2194560"/>
            <a:ext cx="502920" cy="914400"/>
          </a:xfrm>
          <a:prstGeom prst="rect">
            <a:avLst/>
          </a:prstGeom>
          <a:solidFill>
            <a:srgbClr val="1E2761"/>
          </a:solidFill>
          <a:ln cap="flat" cmpd="sng" w="12700">
            <a:solidFill>
              <a:srgbClr val="1E276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" name="Google Shape;61;p2"/>
          <p:cNvSpPr/>
          <p:nvPr/>
        </p:nvSpPr>
        <p:spPr>
          <a:xfrm>
            <a:off x="4754880" y="2194560"/>
            <a:ext cx="50292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FC3F7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rgbClr val="4FC3F7"/>
                </a:solidFill>
                <a:latin typeface="Calibri"/>
                <a:ea typeface="Calibri"/>
                <a:cs typeface="Calibri"/>
                <a:sym typeface="Calibri"/>
              </a:rPr>
              <a:t>05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" name="Google Shape;62;p2"/>
          <p:cNvSpPr/>
          <p:nvPr/>
        </p:nvSpPr>
        <p:spPr>
          <a:xfrm>
            <a:off x="5349240" y="2286000"/>
            <a:ext cx="33375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Estado actual de seguridad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" name="Google Shape;63;p2"/>
          <p:cNvSpPr/>
          <p:nvPr/>
        </p:nvSpPr>
        <p:spPr>
          <a:xfrm>
            <a:off x="5349240" y="2670048"/>
            <a:ext cx="33375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A9BB5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8A9BB5"/>
                </a:solidFill>
                <a:latin typeface="Calibri"/>
                <a:ea typeface="Calibri"/>
                <a:cs typeface="Calibri"/>
                <a:sym typeface="Calibri"/>
              </a:rPr>
              <a:t>Situación tras las correcciones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" name="Google Shape;64;p2"/>
          <p:cNvSpPr/>
          <p:nvPr/>
        </p:nvSpPr>
        <p:spPr>
          <a:xfrm>
            <a:off x="4754880" y="3383280"/>
            <a:ext cx="4023360" cy="9144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CADCFC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" name="Google Shape;65;p2"/>
          <p:cNvSpPr/>
          <p:nvPr/>
        </p:nvSpPr>
        <p:spPr>
          <a:xfrm>
            <a:off x="4754880" y="3383280"/>
            <a:ext cx="502920" cy="914400"/>
          </a:xfrm>
          <a:prstGeom prst="rect">
            <a:avLst/>
          </a:prstGeom>
          <a:solidFill>
            <a:srgbClr val="1E2761"/>
          </a:solidFill>
          <a:ln cap="flat" cmpd="sng" w="12700">
            <a:solidFill>
              <a:srgbClr val="1E276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" name="Google Shape;66;p2"/>
          <p:cNvSpPr/>
          <p:nvPr/>
        </p:nvSpPr>
        <p:spPr>
          <a:xfrm>
            <a:off x="4754880" y="3383280"/>
            <a:ext cx="50292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FC3F7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rgbClr val="4FC3F7"/>
                </a:solidFill>
                <a:latin typeface="Calibri"/>
                <a:ea typeface="Calibri"/>
                <a:cs typeface="Calibri"/>
                <a:sym typeface="Calibri"/>
              </a:rPr>
              <a:t>06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" name="Google Shape;67;p2"/>
          <p:cNvSpPr/>
          <p:nvPr/>
        </p:nvSpPr>
        <p:spPr>
          <a:xfrm>
            <a:off x="5349240" y="3474720"/>
            <a:ext cx="33375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Recomendaciones futuras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" name="Google Shape;68;p2"/>
          <p:cNvSpPr/>
          <p:nvPr/>
        </p:nvSpPr>
        <p:spPr>
          <a:xfrm>
            <a:off x="5349240" y="3858768"/>
            <a:ext cx="33375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A9BB5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8A9BB5"/>
                </a:solidFill>
                <a:latin typeface="Calibri"/>
                <a:ea typeface="Calibri"/>
                <a:cs typeface="Calibri"/>
                <a:sym typeface="Calibri"/>
              </a:rPr>
              <a:t>Próximos pasos para la gerencia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6FB"/>
        </a:solidFill>
      </p:bgPr>
    </p:bg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3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E2761"/>
          </a:solidFill>
          <a:ln cap="flat" cmpd="sng" w="12700">
            <a:solidFill>
              <a:srgbClr val="1E276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" name="Google Shape;75;p3"/>
          <p:cNvSpPr/>
          <p:nvPr/>
        </p:nvSpPr>
        <p:spPr>
          <a:xfrm>
            <a:off x="365760" y="0"/>
            <a:ext cx="841248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Calibri"/>
              <a:buNone/>
            </a:pPr>
            <a:r>
              <a:rPr b="1" i="0" lang="en-US" sz="2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01 </a:t>
            </a:r>
            <a:r>
              <a:rPr b="1" lang="en-US" sz="2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-</a:t>
            </a:r>
            <a:r>
              <a:rPr b="1" i="0" lang="en-US" sz="2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RESUMEN DEL INCIDENTE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76" name="Google Shape;76;p3"/>
          <p:cNvCxnSpPr/>
          <p:nvPr/>
        </p:nvCxnSpPr>
        <p:spPr>
          <a:xfrm>
            <a:off x="640080" y="2834640"/>
            <a:ext cx="7863840" cy="0"/>
          </a:xfrm>
          <a:prstGeom prst="straightConnector1">
            <a:avLst/>
          </a:prstGeom>
          <a:noFill/>
          <a:ln cap="flat" cmpd="sng" w="25400">
            <a:solidFill>
              <a:srgbClr val="CADCFC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77" name="Google Shape;77;p3"/>
          <p:cNvSpPr/>
          <p:nvPr/>
        </p:nvSpPr>
        <p:spPr>
          <a:xfrm>
            <a:off x="960120" y="2606040"/>
            <a:ext cx="457200" cy="457200"/>
          </a:xfrm>
          <a:prstGeom prst="ellipse">
            <a:avLst/>
          </a:prstGeom>
          <a:solidFill>
            <a:srgbClr val="1E2761"/>
          </a:solidFill>
          <a:ln cap="flat" cmpd="sng" w="12700">
            <a:solidFill>
              <a:srgbClr val="1E276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" name="Google Shape;78;p3"/>
          <p:cNvSpPr/>
          <p:nvPr/>
        </p:nvSpPr>
        <p:spPr>
          <a:xfrm>
            <a:off x="457200" y="1691640"/>
            <a:ext cx="14630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A9BB5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8A9BB5"/>
                </a:solidFill>
                <a:latin typeface="Calibri"/>
                <a:ea typeface="Calibri"/>
                <a:cs typeface="Calibri"/>
                <a:sym typeface="Calibri"/>
              </a:rPr>
              <a:t>Sep 2024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" name="Google Shape;79;p3"/>
          <p:cNvSpPr/>
          <p:nvPr/>
        </p:nvSpPr>
        <p:spPr>
          <a:xfrm>
            <a:off x="457200" y="1005840"/>
            <a:ext cx="1463040" cy="640080"/>
          </a:xfrm>
          <a:prstGeom prst="rect">
            <a:avLst/>
          </a:prstGeom>
          <a:solidFill>
            <a:srgbClr val="1E2761"/>
          </a:solidFill>
          <a:ln cap="flat" cmpd="sng" w="12700">
            <a:solidFill>
              <a:srgbClr val="1E2761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0" name="Google Shape;80;p3"/>
          <p:cNvSpPr/>
          <p:nvPr/>
        </p:nvSpPr>
        <p:spPr>
          <a:xfrm>
            <a:off x="457200" y="1005840"/>
            <a:ext cx="146304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Instalación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" name="Google Shape;81;p3"/>
          <p:cNvSpPr/>
          <p:nvPr/>
        </p:nvSpPr>
        <p:spPr>
          <a:xfrm>
            <a:off x="365760" y="3200400"/>
            <a:ext cx="164592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Stack LAMP + WordPress + SSH configurado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" name="Google Shape;82;p3"/>
          <p:cNvSpPr/>
          <p:nvPr/>
        </p:nvSpPr>
        <p:spPr>
          <a:xfrm>
            <a:off x="2651760" y="2606040"/>
            <a:ext cx="457200" cy="457200"/>
          </a:xfrm>
          <a:prstGeom prst="ellipse">
            <a:avLst/>
          </a:prstGeom>
          <a:solidFill>
            <a:srgbClr val="D62839"/>
          </a:solidFill>
          <a:ln cap="flat" cmpd="sng" w="12700">
            <a:solidFill>
              <a:srgbClr val="D6283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" name="Google Shape;83;p3"/>
          <p:cNvSpPr/>
          <p:nvPr/>
        </p:nvSpPr>
        <p:spPr>
          <a:xfrm>
            <a:off x="2148840" y="1691640"/>
            <a:ext cx="14630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A9BB5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8A9BB5"/>
                </a:solidFill>
                <a:latin typeface="Calibri"/>
                <a:ea typeface="Calibri"/>
                <a:cs typeface="Calibri"/>
                <a:sym typeface="Calibri"/>
              </a:rPr>
              <a:t>8 Oct 17:40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" name="Google Shape;84;p3"/>
          <p:cNvSpPr/>
          <p:nvPr/>
        </p:nvSpPr>
        <p:spPr>
          <a:xfrm>
            <a:off x="2148840" y="1005840"/>
            <a:ext cx="1463040" cy="640080"/>
          </a:xfrm>
          <a:prstGeom prst="rect">
            <a:avLst/>
          </a:prstGeom>
          <a:solidFill>
            <a:srgbClr val="D62839"/>
          </a:solidFill>
          <a:ln cap="flat" cmpd="sng" w="12700">
            <a:solidFill>
              <a:srgbClr val="D62839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" name="Google Shape;85;p3"/>
          <p:cNvSpPr/>
          <p:nvPr/>
        </p:nvSpPr>
        <p:spPr>
          <a:xfrm>
            <a:off x="2148840" y="1005840"/>
            <a:ext cx="146304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INTRUSIÓN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3"/>
          <p:cNvSpPr/>
          <p:nvPr/>
        </p:nvSpPr>
        <p:spPr>
          <a:xfrm>
            <a:off x="2057400" y="3200400"/>
            <a:ext cx="164592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Acceso SSH root desde 192.168.0.134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3"/>
          <p:cNvSpPr/>
          <p:nvPr/>
        </p:nvSpPr>
        <p:spPr>
          <a:xfrm>
            <a:off x="4343400" y="2606040"/>
            <a:ext cx="457200" cy="457200"/>
          </a:xfrm>
          <a:prstGeom prst="ellipse">
            <a:avLst/>
          </a:prstGeom>
          <a:solidFill>
            <a:srgbClr val="E07B39"/>
          </a:solidFill>
          <a:ln cap="flat" cmpd="sng" w="12700">
            <a:solidFill>
              <a:srgbClr val="E07B3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" name="Google Shape;88;p3"/>
          <p:cNvSpPr/>
          <p:nvPr/>
        </p:nvSpPr>
        <p:spPr>
          <a:xfrm>
            <a:off x="3840480" y="1691640"/>
            <a:ext cx="14630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A9BB5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8A9BB5"/>
                </a:solidFill>
                <a:latin typeface="Calibri"/>
                <a:ea typeface="Calibri"/>
                <a:cs typeface="Calibri"/>
                <a:sym typeface="Calibri"/>
              </a:rPr>
              <a:t>8 Oct post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3"/>
          <p:cNvSpPr/>
          <p:nvPr/>
        </p:nvSpPr>
        <p:spPr>
          <a:xfrm>
            <a:off x="3840480" y="1005840"/>
            <a:ext cx="1463040" cy="640080"/>
          </a:xfrm>
          <a:prstGeom prst="rect">
            <a:avLst/>
          </a:prstGeom>
          <a:solidFill>
            <a:srgbClr val="E07B39"/>
          </a:solidFill>
          <a:ln cap="flat" cmpd="sng" w="12700">
            <a:solidFill>
              <a:srgbClr val="E07B39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" name="Google Shape;90;p3"/>
          <p:cNvSpPr/>
          <p:nvPr/>
        </p:nvSpPr>
        <p:spPr>
          <a:xfrm>
            <a:off x="3840480" y="1005840"/>
            <a:ext cx="146304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Borrado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3"/>
          <p:cNvSpPr/>
          <p:nvPr/>
        </p:nvSpPr>
        <p:spPr>
          <a:xfrm>
            <a:off x="3749040" y="3200400"/>
            <a:ext cx="164592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auth.log y syslog eliminados por atacante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3"/>
          <p:cNvSpPr/>
          <p:nvPr/>
        </p:nvSpPr>
        <p:spPr>
          <a:xfrm>
            <a:off x="6035040" y="2606040"/>
            <a:ext cx="457200" cy="457200"/>
          </a:xfrm>
          <a:prstGeom prst="ellipse">
            <a:avLst/>
          </a:prstGeom>
          <a:solidFill>
            <a:srgbClr val="1A6B9A"/>
          </a:solidFill>
          <a:ln cap="flat" cmpd="sng" w="12700">
            <a:solidFill>
              <a:srgbClr val="1A6B9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" name="Google Shape;93;p3"/>
          <p:cNvSpPr/>
          <p:nvPr/>
        </p:nvSpPr>
        <p:spPr>
          <a:xfrm>
            <a:off x="5532120" y="1691640"/>
            <a:ext cx="14630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A9BB5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8A9BB5"/>
                </a:solidFill>
                <a:latin typeface="Calibri"/>
                <a:ea typeface="Calibri"/>
                <a:cs typeface="Calibri"/>
                <a:sym typeface="Calibri"/>
              </a:rPr>
              <a:t>Mar 2026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3"/>
          <p:cNvSpPr/>
          <p:nvPr/>
        </p:nvSpPr>
        <p:spPr>
          <a:xfrm>
            <a:off x="5532120" y="1005840"/>
            <a:ext cx="1463040" cy="640080"/>
          </a:xfrm>
          <a:prstGeom prst="rect">
            <a:avLst/>
          </a:prstGeom>
          <a:solidFill>
            <a:srgbClr val="1A6B9A"/>
          </a:solidFill>
          <a:ln cap="flat" cmpd="sng" w="12700">
            <a:solidFill>
              <a:srgbClr val="1A6B9A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5" name="Google Shape;95;p3"/>
          <p:cNvSpPr/>
          <p:nvPr/>
        </p:nvSpPr>
        <p:spPr>
          <a:xfrm>
            <a:off x="5532120" y="1005840"/>
            <a:ext cx="146304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Detección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p3"/>
          <p:cNvSpPr/>
          <p:nvPr/>
        </p:nvSpPr>
        <p:spPr>
          <a:xfrm>
            <a:off x="5440680" y="3200400"/>
            <a:ext cx="164592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Análisis forense identifica el compromiso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3"/>
          <p:cNvSpPr/>
          <p:nvPr/>
        </p:nvSpPr>
        <p:spPr>
          <a:xfrm>
            <a:off x="7726680" y="2606040"/>
            <a:ext cx="457200" cy="457200"/>
          </a:xfrm>
          <a:prstGeom prst="ellipse">
            <a:avLst/>
          </a:prstGeom>
          <a:solidFill>
            <a:srgbClr val="2D8653"/>
          </a:solidFill>
          <a:ln cap="flat" cmpd="sng" w="12700">
            <a:solidFill>
              <a:srgbClr val="2D865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8" name="Google Shape;98;p3"/>
          <p:cNvSpPr/>
          <p:nvPr/>
        </p:nvSpPr>
        <p:spPr>
          <a:xfrm>
            <a:off x="7223760" y="1691640"/>
            <a:ext cx="14630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A9BB5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8A9BB5"/>
                </a:solidFill>
                <a:latin typeface="Calibri"/>
                <a:ea typeface="Calibri"/>
                <a:cs typeface="Calibri"/>
                <a:sym typeface="Calibri"/>
              </a:rPr>
              <a:t>19 Mar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3"/>
          <p:cNvSpPr/>
          <p:nvPr/>
        </p:nvSpPr>
        <p:spPr>
          <a:xfrm>
            <a:off x="7223760" y="1005840"/>
            <a:ext cx="1463040" cy="640080"/>
          </a:xfrm>
          <a:prstGeom prst="rect">
            <a:avLst/>
          </a:prstGeom>
          <a:solidFill>
            <a:srgbClr val="2D8653"/>
          </a:solidFill>
          <a:ln cap="flat" cmpd="sng" w="12700">
            <a:solidFill>
              <a:srgbClr val="2D8653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0" name="Google Shape;100;p3"/>
          <p:cNvSpPr/>
          <p:nvPr/>
        </p:nvSpPr>
        <p:spPr>
          <a:xfrm>
            <a:off x="7223760" y="1005840"/>
            <a:ext cx="146304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Remediación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3"/>
          <p:cNvSpPr/>
          <p:nvPr/>
        </p:nvSpPr>
        <p:spPr>
          <a:xfrm>
            <a:off x="7132320" y="3200400"/>
            <a:ext cx="164592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Todas las vulnerabilidades corregidas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3"/>
          <p:cNvSpPr/>
          <p:nvPr/>
        </p:nvSpPr>
        <p:spPr>
          <a:xfrm>
            <a:off x="365760" y="4023360"/>
            <a:ext cx="8412480" cy="822960"/>
          </a:xfrm>
          <a:prstGeom prst="rect">
            <a:avLst/>
          </a:prstGeom>
          <a:solidFill>
            <a:srgbClr val="2A0A0E"/>
          </a:solidFill>
          <a:ln cap="flat" cmpd="sng" w="19050">
            <a:solidFill>
              <a:srgbClr val="D6283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3" name="Google Shape;103;p3"/>
          <p:cNvSpPr/>
          <p:nvPr/>
        </p:nvSpPr>
        <p:spPr>
          <a:xfrm>
            <a:off x="457200" y="4023360"/>
            <a:ext cx="822960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Control total del servidor </a:t>
            </a:r>
            <a:r>
              <a:rPr lang="en-US" sz="13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-</a:t>
            </a:r>
            <a:r>
              <a:rPr b="0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acceso a base de datos WordPress, archivos del sistema y posibilidad de instalar backdoors o exfiltrar datos.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6FB"/>
        </a:solidFill>
      </p:bgPr>
    </p:bg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4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E2761"/>
          </a:solidFill>
          <a:ln cap="flat" cmpd="sng" w="12700">
            <a:solidFill>
              <a:srgbClr val="1E276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0" name="Google Shape;110;p4"/>
          <p:cNvSpPr/>
          <p:nvPr/>
        </p:nvSpPr>
        <p:spPr>
          <a:xfrm>
            <a:off x="365760" y="0"/>
            <a:ext cx="841248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02 </a:t>
            </a:r>
            <a:r>
              <a:rPr b="1" lang="en-US" sz="1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-</a:t>
            </a:r>
            <a:r>
              <a:rPr b="1" i="0" lang="en-US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ANÁLISIS FORENSE: VULNERABILIDADES IDENTIFICADAS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4"/>
          <p:cNvSpPr/>
          <p:nvPr/>
        </p:nvSpPr>
        <p:spPr>
          <a:xfrm>
            <a:off x="365760" y="1005840"/>
            <a:ext cx="4023360" cy="13716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0E8F5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2" name="Google Shape;112;p4"/>
          <p:cNvSpPr/>
          <p:nvPr/>
        </p:nvSpPr>
        <p:spPr>
          <a:xfrm>
            <a:off x="365760" y="1005840"/>
            <a:ext cx="502920" cy="1371600"/>
          </a:xfrm>
          <a:prstGeom prst="rect">
            <a:avLst/>
          </a:prstGeom>
          <a:solidFill>
            <a:srgbClr val="D62839"/>
          </a:solidFill>
          <a:ln cap="flat" cmpd="sng" w="12700">
            <a:solidFill>
              <a:srgbClr val="D6283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3" name="Google Shape;113;p4"/>
          <p:cNvSpPr/>
          <p:nvPr/>
        </p:nvSpPr>
        <p:spPr>
          <a:xfrm>
            <a:off x="365760" y="1005840"/>
            <a:ext cx="50292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V1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4"/>
          <p:cNvSpPr/>
          <p:nvPr/>
        </p:nvSpPr>
        <p:spPr>
          <a:xfrm>
            <a:off x="3154680" y="1115568"/>
            <a:ext cx="1097280" cy="274320"/>
          </a:xfrm>
          <a:prstGeom prst="rect">
            <a:avLst/>
          </a:prstGeom>
          <a:solidFill>
            <a:srgbClr val="D62839"/>
          </a:solidFill>
          <a:ln cap="flat" cmpd="sng" w="12700">
            <a:solidFill>
              <a:srgbClr val="D6283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5" name="Google Shape;115;p4"/>
          <p:cNvSpPr/>
          <p:nvPr/>
        </p:nvSpPr>
        <p:spPr>
          <a:xfrm>
            <a:off x="3154680" y="1115568"/>
            <a:ext cx="10972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CRÍTICA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4"/>
          <p:cNvSpPr/>
          <p:nvPr/>
        </p:nvSpPr>
        <p:spPr>
          <a:xfrm>
            <a:off x="960120" y="1115568"/>
            <a:ext cx="210312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SSH root login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4"/>
          <p:cNvSpPr/>
          <p:nvPr/>
        </p:nvSpPr>
        <p:spPr>
          <a:xfrm>
            <a:off x="960120" y="1481328"/>
            <a:ext cx="329184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A9BB5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8A9BB5"/>
                </a:solidFill>
                <a:latin typeface="Calibri"/>
                <a:ea typeface="Calibri"/>
                <a:cs typeface="Calibri"/>
                <a:sym typeface="Calibri"/>
              </a:rPr>
              <a:t>Login directo como root habilitado. El atacante accedió con contraseña.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4"/>
          <p:cNvSpPr/>
          <p:nvPr/>
        </p:nvSpPr>
        <p:spPr>
          <a:xfrm>
            <a:off x="365760" y="2606040"/>
            <a:ext cx="4023360" cy="13716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0E8F5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9" name="Google Shape;119;p4"/>
          <p:cNvSpPr/>
          <p:nvPr/>
        </p:nvSpPr>
        <p:spPr>
          <a:xfrm>
            <a:off x="365760" y="2606040"/>
            <a:ext cx="502920" cy="1371600"/>
          </a:xfrm>
          <a:prstGeom prst="rect">
            <a:avLst/>
          </a:prstGeom>
          <a:solidFill>
            <a:srgbClr val="D62839"/>
          </a:solidFill>
          <a:ln cap="flat" cmpd="sng" w="12700">
            <a:solidFill>
              <a:srgbClr val="D6283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0" name="Google Shape;120;p4"/>
          <p:cNvSpPr/>
          <p:nvPr/>
        </p:nvSpPr>
        <p:spPr>
          <a:xfrm>
            <a:off x="365760" y="2606040"/>
            <a:ext cx="50292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V2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4"/>
          <p:cNvSpPr/>
          <p:nvPr/>
        </p:nvSpPr>
        <p:spPr>
          <a:xfrm>
            <a:off x="3154680" y="2715768"/>
            <a:ext cx="1097280" cy="274320"/>
          </a:xfrm>
          <a:prstGeom prst="rect">
            <a:avLst/>
          </a:prstGeom>
          <a:solidFill>
            <a:srgbClr val="D62839"/>
          </a:solidFill>
          <a:ln cap="flat" cmpd="sng" w="12700">
            <a:solidFill>
              <a:srgbClr val="D6283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2" name="Google Shape;122;p4"/>
          <p:cNvSpPr/>
          <p:nvPr/>
        </p:nvSpPr>
        <p:spPr>
          <a:xfrm>
            <a:off x="3154680" y="2715768"/>
            <a:ext cx="10972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CRÍTICA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" name="Google Shape;123;p4"/>
          <p:cNvSpPr/>
          <p:nvPr/>
        </p:nvSpPr>
        <p:spPr>
          <a:xfrm>
            <a:off x="960120" y="2715768"/>
            <a:ext cx="210312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Contraseña BD débil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p4"/>
          <p:cNvSpPr/>
          <p:nvPr/>
        </p:nvSpPr>
        <p:spPr>
          <a:xfrm>
            <a:off x="960120" y="3081528"/>
            <a:ext cx="329184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A9BB5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8A9BB5"/>
                </a:solidFill>
                <a:latin typeface="Calibri"/>
                <a:ea typeface="Calibri"/>
                <a:cs typeface="Calibri"/>
                <a:sym typeface="Calibri"/>
              </a:rPr>
              <a:t>WordPress usaba DB_PASSWORD: 123456. Acceso total a la base de datos.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4"/>
          <p:cNvSpPr/>
          <p:nvPr/>
        </p:nvSpPr>
        <p:spPr>
          <a:xfrm>
            <a:off x="4754880" y="1005840"/>
            <a:ext cx="4023360" cy="13716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0E8F5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6" name="Google Shape;126;p4"/>
          <p:cNvSpPr/>
          <p:nvPr/>
        </p:nvSpPr>
        <p:spPr>
          <a:xfrm>
            <a:off x="4754880" y="1005840"/>
            <a:ext cx="502920" cy="1371600"/>
          </a:xfrm>
          <a:prstGeom prst="rect">
            <a:avLst/>
          </a:prstGeom>
          <a:solidFill>
            <a:srgbClr val="E07B39"/>
          </a:solidFill>
          <a:ln cap="flat" cmpd="sng" w="12700">
            <a:solidFill>
              <a:srgbClr val="E07B3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7" name="Google Shape;127;p4"/>
          <p:cNvSpPr/>
          <p:nvPr/>
        </p:nvSpPr>
        <p:spPr>
          <a:xfrm>
            <a:off x="4754880" y="1005840"/>
            <a:ext cx="50292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V3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4"/>
          <p:cNvSpPr/>
          <p:nvPr/>
        </p:nvSpPr>
        <p:spPr>
          <a:xfrm>
            <a:off x="7543800" y="1115568"/>
            <a:ext cx="1097280" cy="274320"/>
          </a:xfrm>
          <a:prstGeom prst="rect">
            <a:avLst/>
          </a:prstGeom>
          <a:solidFill>
            <a:srgbClr val="E07B39"/>
          </a:solidFill>
          <a:ln cap="flat" cmpd="sng" w="12700">
            <a:solidFill>
              <a:srgbClr val="E07B3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9" name="Google Shape;129;p4"/>
          <p:cNvSpPr/>
          <p:nvPr/>
        </p:nvSpPr>
        <p:spPr>
          <a:xfrm>
            <a:off x="7543800" y="1115568"/>
            <a:ext cx="10972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ALTA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p4"/>
          <p:cNvSpPr/>
          <p:nvPr/>
        </p:nvSpPr>
        <p:spPr>
          <a:xfrm>
            <a:off x="5349240" y="1115568"/>
            <a:ext cx="210312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FTP anónimo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4"/>
          <p:cNvSpPr/>
          <p:nvPr/>
        </p:nvSpPr>
        <p:spPr>
          <a:xfrm>
            <a:off x="5349240" y="1481328"/>
            <a:ext cx="329184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A9BB5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8A9BB5"/>
                </a:solidFill>
                <a:latin typeface="Calibri"/>
                <a:ea typeface="Calibri"/>
                <a:cs typeface="Calibri"/>
                <a:sym typeface="Calibri"/>
              </a:rPr>
              <a:t>anonymous_enable=YES + write_enable=YES + sin SSL. Subida libre de archivos.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4"/>
          <p:cNvSpPr/>
          <p:nvPr/>
        </p:nvSpPr>
        <p:spPr>
          <a:xfrm>
            <a:off x="4754880" y="2606040"/>
            <a:ext cx="4023360" cy="13716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0E8F5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3" name="Google Shape;133;p4"/>
          <p:cNvSpPr/>
          <p:nvPr/>
        </p:nvSpPr>
        <p:spPr>
          <a:xfrm>
            <a:off x="4754880" y="2606040"/>
            <a:ext cx="502920" cy="1371600"/>
          </a:xfrm>
          <a:prstGeom prst="rect">
            <a:avLst/>
          </a:prstGeom>
          <a:solidFill>
            <a:srgbClr val="D4A017"/>
          </a:solidFill>
          <a:ln cap="flat" cmpd="sng" w="12700">
            <a:solidFill>
              <a:srgbClr val="D4A01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4" name="Google Shape;134;p4"/>
          <p:cNvSpPr/>
          <p:nvPr/>
        </p:nvSpPr>
        <p:spPr>
          <a:xfrm>
            <a:off x="4754880" y="2606040"/>
            <a:ext cx="50292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V4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4"/>
          <p:cNvSpPr/>
          <p:nvPr/>
        </p:nvSpPr>
        <p:spPr>
          <a:xfrm>
            <a:off x="7543800" y="2715768"/>
            <a:ext cx="1097280" cy="274320"/>
          </a:xfrm>
          <a:prstGeom prst="rect">
            <a:avLst/>
          </a:prstGeom>
          <a:solidFill>
            <a:srgbClr val="D4A017"/>
          </a:solidFill>
          <a:ln cap="flat" cmpd="sng" w="12700">
            <a:solidFill>
              <a:srgbClr val="D4A01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6" name="Google Shape;136;p4"/>
          <p:cNvSpPr/>
          <p:nvPr/>
        </p:nvSpPr>
        <p:spPr>
          <a:xfrm>
            <a:off x="7543800" y="2715768"/>
            <a:ext cx="10972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MEDIA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4"/>
          <p:cNvSpPr/>
          <p:nvPr/>
        </p:nvSpPr>
        <p:spPr>
          <a:xfrm>
            <a:off x="5349240" y="2715768"/>
            <a:ext cx="210312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info.php expuesto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4"/>
          <p:cNvSpPr/>
          <p:nvPr/>
        </p:nvSpPr>
        <p:spPr>
          <a:xfrm>
            <a:off x="5349240" y="3081528"/>
            <a:ext cx="329184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A9BB5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8A9BB5"/>
                </a:solidFill>
                <a:latin typeface="Calibri"/>
                <a:ea typeface="Calibri"/>
                <a:cs typeface="Calibri"/>
                <a:sym typeface="Calibri"/>
              </a:rPr>
              <a:t>Archivo phpinfo() en directorio público. Expone configuración interna del servidor.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4"/>
          <p:cNvSpPr/>
          <p:nvPr/>
        </p:nvSpPr>
        <p:spPr>
          <a:xfrm>
            <a:off x="365760" y="4160520"/>
            <a:ext cx="8412480" cy="685800"/>
          </a:xfrm>
          <a:prstGeom prst="rect">
            <a:avLst/>
          </a:prstGeom>
          <a:solidFill>
            <a:srgbClr val="EBF0FB"/>
          </a:solidFill>
          <a:ln cap="flat" cmpd="sng" w="12700">
            <a:solidFill>
              <a:srgbClr val="CADCF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0" name="Google Shape;140;p4"/>
          <p:cNvSpPr/>
          <p:nvPr/>
        </p:nvSpPr>
        <p:spPr>
          <a:xfrm>
            <a:off x="457200" y="4160520"/>
            <a:ext cx="82296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100"/>
              <a:buFont typeface="Consolas"/>
              <a:buNone/>
            </a:pPr>
            <a:r>
              <a:rPr b="0" i="0" lang="en-US" sz="1100" u="none" cap="none" strike="noStrike">
                <a:solidFill>
                  <a:srgbClr val="1E2761"/>
                </a:solidFill>
                <a:latin typeface="Consolas"/>
                <a:ea typeface="Consolas"/>
                <a:cs typeface="Consolas"/>
                <a:sym typeface="Consolas"/>
              </a:rPr>
              <a:t>Evidencia journalctl </a:t>
            </a:r>
            <a:r>
              <a:rPr lang="en-US" sz="1100">
                <a:solidFill>
                  <a:srgbClr val="1E2761"/>
                </a:solidFill>
                <a:latin typeface="Consolas"/>
                <a:ea typeface="Consolas"/>
                <a:cs typeface="Consolas"/>
                <a:sym typeface="Consolas"/>
              </a:rPr>
              <a:t>-</a:t>
            </a:r>
            <a:r>
              <a:rPr b="0" i="0" lang="en-US" sz="1100" u="none" cap="none" strike="noStrike">
                <a:solidFill>
                  <a:srgbClr val="1E2761"/>
                </a:solidFill>
                <a:latin typeface="Consolas"/>
                <a:ea typeface="Consolas"/>
                <a:cs typeface="Consolas"/>
                <a:sym typeface="Consolas"/>
              </a:rPr>
              <a:t> Oct 08 17:40:59 </a:t>
            </a:r>
            <a:r>
              <a:rPr lang="en-US" sz="1100">
                <a:solidFill>
                  <a:srgbClr val="1E2761"/>
                </a:solidFill>
                <a:latin typeface="Consolas"/>
                <a:ea typeface="Consolas"/>
                <a:cs typeface="Consolas"/>
                <a:sym typeface="Consolas"/>
              </a:rPr>
              <a:t>-</a:t>
            </a:r>
            <a:r>
              <a:rPr b="0" i="0" lang="en-US" sz="1100" u="none" cap="none" strike="noStrike">
                <a:solidFill>
                  <a:srgbClr val="1E2761"/>
                </a:solidFill>
                <a:latin typeface="Consolas"/>
                <a:ea typeface="Consolas"/>
                <a:cs typeface="Consolas"/>
                <a:sym typeface="Consolas"/>
              </a:rPr>
              <a:t> Accepted password for root from 192.168.0.134 port 45623 ssh2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6FB"/>
        </a:solidFill>
      </p:bgPr>
    </p:bg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5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E2761"/>
          </a:solidFill>
          <a:ln cap="flat" cmpd="sng" w="12700">
            <a:solidFill>
              <a:srgbClr val="1E276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7" name="Google Shape;147;p5"/>
          <p:cNvSpPr/>
          <p:nvPr/>
        </p:nvSpPr>
        <p:spPr>
          <a:xfrm>
            <a:off x="365760" y="0"/>
            <a:ext cx="841248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Calibri"/>
              <a:buNone/>
            </a:pPr>
            <a:r>
              <a:rPr b="1" i="0" lang="en-US" sz="2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03 </a:t>
            </a:r>
            <a:r>
              <a:rPr b="1" lang="en-US" sz="2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-</a:t>
            </a:r>
            <a:r>
              <a:rPr b="1" i="0" lang="en-US" sz="2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PENTESTING: NUEVAS VULNERABILIDADES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5"/>
          <p:cNvSpPr/>
          <p:nvPr/>
        </p:nvSpPr>
        <p:spPr>
          <a:xfrm>
            <a:off x="365760" y="914400"/>
            <a:ext cx="18288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Herramientas: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5"/>
          <p:cNvSpPr/>
          <p:nvPr/>
        </p:nvSpPr>
        <p:spPr>
          <a:xfrm>
            <a:off x="365760" y="1234440"/>
            <a:ext cx="1371600" cy="365760"/>
          </a:xfrm>
          <a:prstGeom prst="rect">
            <a:avLst/>
          </a:prstGeom>
          <a:solidFill>
            <a:srgbClr val="1E2761"/>
          </a:solidFill>
          <a:ln cap="flat" cmpd="sng" w="12700">
            <a:solidFill>
              <a:srgbClr val="1E276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0" name="Google Shape;150;p5"/>
          <p:cNvSpPr/>
          <p:nvPr/>
        </p:nvSpPr>
        <p:spPr>
          <a:xfrm>
            <a:off x="365760" y="1234440"/>
            <a:ext cx="1371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FC3F7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4FC3F7"/>
                </a:solidFill>
                <a:latin typeface="Calibri"/>
                <a:ea typeface="Calibri"/>
                <a:cs typeface="Calibri"/>
                <a:sym typeface="Calibri"/>
              </a:rPr>
              <a:t>Nmap 7.95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5"/>
          <p:cNvSpPr/>
          <p:nvPr/>
        </p:nvSpPr>
        <p:spPr>
          <a:xfrm>
            <a:off x="1920240" y="1234440"/>
            <a:ext cx="1371600" cy="365760"/>
          </a:xfrm>
          <a:prstGeom prst="rect">
            <a:avLst/>
          </a:prstGeom>
          <a:solidFill>
            <a:srgbClr val="1E2761"/>
          </a:solidFill>
          <a:ln cap="flat" cmpd="sng" w="12700">
            <a:solidFill>
              <a:srgbClr val="1E276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2" name="Google Shape;152;p5"/>
          <p:cNvSpPr/>
          <p:nvPr/>
        </p:nvSpPr>
        <p:spPr>
          <a:xfrm>
            <a:off x="1920240" y="1234440"/>
            <a:ext cx="1371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FC3F7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4FC3F7"/>
                </a:solidFill>
                <a:latin typeface="Calibri"/>
                <a:ea typeface="Calibri"/>
                <a:cs typeface="Calibri"/>
                <a:sym typeface="Calibri"/>
              </a:rPr>
              <a:t>Nikto 2.5.0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5"/>
          <p:cNvSpPr/>
          <p:nvPr/>
        </p:nvSpPr>
        <p:spPr>
          <a:xfrm>
            <a:off x="3474720" y="1234440"/>
            <a:ext cx="1371600" cy="365760"/>
          </a:xfrm>
          <a:prstGeom prst="rect">
            <a:avLst/>
          </a:prstGeom>
          <a:solidFill>
            <a:srgbClr val="1E2761"/>
          </a:solidFill>
          <a:ln cap="flat" cmpd="sng" w="12700">
            <a:solidFill>
              <a:srgbClr val="1E276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4" name="Google Shape;154;p5"/>
          <p:cNvSpPr/>
          <p:nvPr/>
        </p:nvSpPr>
        <p:spPr>
          <a:xfrm>
            <a:off x="3474720" y="1234440"/>
            <a:ext cx="1371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FC3F7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4FC3F7"/>
                </a:solidFill>
                <a:latin typeface="Calibri"/>
                <a:ea typeface="Calibri"/>
                <a:cs typeface="Calibri"/>
                <a:sym typeface="Calibri"/>
              </a:rPr>
              <a:t>curl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5"/>
          <p:cNvSpPr/>
          <p:nvPr/>
        </p:nvSpPr>
        <p:spPr>
          <a:xfrm>
            <a:off x="5029200" y="914400"/>
            <a:ext cx="3657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Puertos abiertos detectados: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5"/>
          <p:cNvSpPr/>
          <p:nvPr/>
        </p:nvSpPr>
        <p:spPr>
          <a:xfrm>
            <a:off x="5029200" y="1234440"/>
            <a:ext cx="1234440" cy="365760"/>
          </a:xfrm>
          <a:prstGeom prst="rect">
            <a:avLst/>
          </a:prstGeom>
          <a:solidFill>
            <a:srgbClr val="1A3A6E"/>
          </a:solidFill>
          <a:ln cap="flat" cmpd="sng" w="12700">
            <a:solidFill>
              <a:srgbClr val="4FC3F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7" name="Google Shape;157;p5"/>
          <p:cNvSpPr/>
          <p:nvPr/>
        </p:nvSpPr>
        <p:spPr>
          <a:xfrm>
            <a:off x="5029200" y="1234440"/>
            <a:ext cx="123444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FC3F7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4FC3F7"/>
                </a:solidFill>
                <a:latin typeface="Calibri"/>
                <a:ea typeface="Calibri"/>
                <a:cs typeface="Calibri"/>
                <a:sym typeface="Calibri"/>
              </a:rPr>
              <a:t>21/tcp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p5"/>
          <p:cNvSpPr/>
          <p:nvPr/>
        </p:nvSpPr>
        <p:spPr>
          <a:xfrm>
            <a:off x="5029200" y="1399032"/>
            <a:ext cx="123444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vsftpd 3.0.3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5"/>
          <p:cNvSpPr/>
          <p:nvPr/>
        </p:nvSpPr>
        <p:spPr>
          <a:xfrm>
            <a:off x="6400800" y="1234440"/>
            <a:ext cx="1234440" cy="365760"/>
          </a:xfrm>
          <a:prstGeom prst="rect">
            <a:avLst/>
          </a:prstGeom>
          <a:solidFill>
            <a:srgbClr val="1A3A6E"/>
          </a:solidFill>
          <a:ln cap="flat" cmpd="sng" w="12700">
            <a:solidFill>
              <a:srgbClr val="4FC3F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0" name="Google Shape;160;p5"/>
          <p:cNvSpPr/>
          <p:nvPr/>
        </p:nvSpPr>
        <p:spPr>
          <a:xfrm>
            <a:off x="6400800" y="1234440"/>
            <a:ext cx="123444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FC3F7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4FC3F7"/>
                </a:solidFill>
                <a:latin typeface="Calibri"/>
                <a:ea typeface="Calibri"/>
                <a:cs typeface="Calibri"/>
                <a:sym typeface="Calibri"/>
              </a:rPr>
              <a:t>22/tcp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5"/>
          <p:cNvSpPr/>
          <p:nvPr/>
        </p:nvSpPr>
        <p:spPr>
          <a:xfrm>
            <a:off x="6400800" y="1399032"/>
            <a:ext cx="123444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OpenSSH 9.2p1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5"/>
          <p:cNvSpPr/>
          <p:nvPr/>
        </p:nvSpPr>
        <p:spPr>
          <a:xfrm>
            <a:off x="7772400" y="1234440"/>
            <a:ext cx="1234440" cy="365760"/>
          </a:xfrm>
          <a:prstGeom prst="rect">
            <a:avLst/>
          </a:prstGeom>
          <a:solidFill>
            <a:srgbClr val="1A3A6E"/>
          </a:solidFill>
          <a:ln cap="flat" cmpd="sng" w="12700">
            <a:solidFill>
              <a:srgbClr val="4FC3F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3" name="Google Shape;163;p5"/>
          <p:cNvSpPr/>
          <p:nvPr/>
        </p:nvSpPr>
        <p:spPr>
          <a:xfrm>
            <a:off x="7772400" y="1234440"/>
            <a:ext cx="123444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FC3F7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4FC3F7"/>
                </a:solidFill>
                <a:latin typeface="Calibri"/>
                <a:ea typeface="Calibri"/>
                <a:cs typeface="Calibri"/>
                <a:sym typeface="Calibri"/>
              </a:rPr>
              <a:t>80/tcp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5"/>
          <p:cNvSpPr/>
          <p:nvPr/>
        </p:nvSpPr>
        <p:spPr>
          <a:xfrm>
            <a:off x="7772400" y="1399032"/>
            <a:ext cx="123444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Apache 2.4.62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5"/>
          <p:cNvSpPr/>
          <p:nvPr/>
        </p:nvSpPr>
        <p:spPr>
          <a:xfrm>
            <a:off x="365760" y="1828800"/>
            <a:ext cx="8412480" cy="82296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0E8F5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6" name="Google Shape;166;p5"/>
          <p:cNvSpPr/>
          <p:nvPr/>
        </p:nvSpPr>
        <p:spPr>
          <a:xfrm>
            <a:off x="365760" y="1828800"/>
            <a:ext cx="502920" cy="822960"/>
          </a:xfrm>
          <a:prstGeom prst="rect">
            <a:avLst/>
          </a:prstGeom>
          <a:solidFill>
            <a:srgbClr val="E07B39"/>
          </a:solidFill>
          <a:ln cap="flat" cmpd="sng" w="12700">
            <a:solidFill>
              <a:srgbClr val="E07B3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7" name="Google Shape;167;p5"/>
          <p:cNvSpPr/>
          <p:nvPr/>
        </p:nvSpPr>
        <p:spPr>
          <a:xfrm>
            <a:off x="365760" y="1828800"/>
            <a:ext cx="50292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F-01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5"/>
          <p:cNvSpPr/>
          <p:nvPr/>
        </p:nvSpPr>
        <p:spPr>
          <a:xfrm>
            <a:off x="960120" y="1901952"/>
            <a:ext cx="3657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xmlrpc.php accesible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5"/>
          <p:cNvSpPr/>
          <p:nvPr/>
        </p:nvSpPr>
        <p:spPr>
          <a:xfrm>
            <a:off x="960120" y="2286000"/>
            <a:ext cx="32004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7B39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E07B39"/>
                </a:solidFill>
                <a:latin typeface="Calibri"/>
                <a:ea typeface="Calibri"/>
                <a:cs typeface="Calibri"/>
                <a:sym typeface="Calibri"/>
              </a:rPr>
              <a:t>CVSS: 8.1  |  ALTA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p5"/>
          <p:cNvSpPr/>
          <p:nvPr/>
        </p:nvSpPr>
        <p:spPr>
          <a:xfrm>
            <a:off x="4389120" y="1920240"/>
            <a:ext cx="347472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A9BB5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8A9BB5"/>
                </a:solidFill>
                <a:latin typeface="Calibri"/>
                <a:ea typeface="Calibri"/>
                <a:cs typeface="Calibri"/>
                <a:sym typeface="Calibri"/>
              </a:rPr>
              <a:t>Endpoint WordPress público. Permite fuerza bruta de credenciales y DDoS.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p5"/>
          <p:cNvSpPr/>
          <p:nvPr/>
        </p:nvSpPr>
        <p:spPr>
          <a:xfrm>
            <a:off x="7955280" y="2029968"/>
            <a:ext cx="1097280" cy="347472"/>
          </a:xfrm>
          <a:prstGeom prst="rect">
            <a:avLst/>
          </a:prstGeom>
          <a:solidFill>
            <a:srgbClr val="E2EFDA"/>
          </a:solidFill>
          <a:ln cap="flat" cmpd="sng" w="12700">
            <a:solidFill>
              <a:srgbClr val="2D865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2" name="Google Shape;172;p5"/>
          <p:cNvSpPr/>
          <p:nvPr/>
        </p:nvSpPr>
        <p:spPr>
          <a:xfrm>
            <a:off x="7955280" y="2029968"/>
            <a:ext cx="109728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D8653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2D8653"/>
                </a:solidFill>
                <a:latin typeface="Calibri"/>
                <a:ea typeface="Calibri"/>
                <a:cs typeface="Calibri"/>
                <a:sym typeface="Calibri"/>
              </a:rPr>
              <a:t>REMEDIADO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p5"/>
          <p:cNvSpPr/>
          <p:nvPr/>
        </p:nvSpPr>
        <p:spPr>
          <a:xfrm>
            <a:off x="365760" y="2788920"/>
            <a:ext cx="8412480" cy="82296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0E8F5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4" name="Google Shape;174;p5"/>
          <p:cNvSpPr/>
          <p:nvPr/>
        </p:nvSpPr>
        <p:spPr>
          <a:xfrm>
            <a:off x="365760" y="2788920"/>
            <a:ext cx="502920" cy="822960"/>
          </a:xfrm>
          <a:prstGeom prst="rect">
            <a:avLst/>
          </a:prstGeom>
          <a:solidFill>
            <a:srgbClr val="E07B39"/>
          </a:solidFill>
          <a:ln cap="flat" cmpd="sng" w="12700">
            <a:solidFill>
              <a:srgbClr val="E07B3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5" name="Google Shape;175;p5"/>
          <p:cNvSpPr/>
          <p:nvPr/>
        </p:nvSpPr>
        <p:spPr>
          <a:xfrm>
            <a:off x="365760" y="2788920"/>
            <a:ext cx="50292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F-02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" name="Google Shape;176;p5"/>
          <p:cNvSpPr/>
          <p:nvPr/>
        </p:nvSpPr>
        <p:spPr>
          <a:xfrm>
            <a:off x="960120" y="2862072"/>
            <a:ext cx="3657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Directory listing /uploads/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5"/>
          <p:cNvSpPr/>
          <p:nvPr/>
        </p:nvSpPr>
        <p:spPr>
          <a:xfrm>
            <a:off x="960120" y="3246120"/>
            <a:ext cx="32004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7B39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E07B39"/>
                </a:solidFill>
                <a:latin typeface="Calibri"/>
                <a:ea typeface="Calibri"/>
                <a:cs typeface="Calibri"/>
                <a:sym typeface="Calibri"/>
              </a:rPr>
              <a:t>CVSS: 7.5  |  ALTA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p5"/>
          <p:cNvSpPr/>
          <p:nvPr/>
        </p:nvSpPr>
        <p:spPr>
          <a:xfrm>
            <a:off x="4389120" y="2880360"/>
            <a:ext cx="347472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A9BB5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8A9BB5"/>
                </a:solidFill>
                <a:latin typeface="Calibri"/>
                <a:ea typeface="Calibri"/>
                <a:cs typeface="Calibri"/>
                <a:sym typeface="Calibri"/>
              </a:rPr>
              <a:t>Listado de archivos habilitado en Apache. Expone todos los archivos subidos.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p5"/>
          <p:cNvSpPr/>
          <p:nvPr/>
        </p:nvSpPr>
        <p:spPr>
          <a:xfrm>
            <a:off x="7955280" y="2990088"/>
            <a:ext cx="1097280" cy="347472"/>
          </a:xfrm>
          <a:prstGeom prst="rect">
            <a:avLst/>
          </a:prstGeom>
          <a:solidFill>
            <a:srgbClr val="E2EFDA"/>
          </a:solidFill>
          <a:ln cap="flat" cmpd="sng" w="12700">
            <a:solidFill>
              <a:srgbClr val="37562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0" name="Google Shape;180;p5"/>
          <p:cNvSpPr/>
          <p:nvPr/>
        </p:nvSpPr>
        <p:spPr>
          <a:xfrm>
            <a:off x="7955280" y="2990088"/>
            <a:ext cx="109728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75623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375623"/>
                </a:solidFill>
                <a:latin typeface="Calibri"/>
                <a:ea typeface="Calibri"/>
                <a:cs typeface="Calibri"/>
                <a:sym typeface="Calibri"/>
              </a:rPr>
              <a:t>REMEDIADO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p5"/>
          <p:cNvSpPr/>
          <p:nvPr/>
        </p:nvSpPr>
        <p:spPr>
          <a:xfrm>
            <a:off x="365760" y="3749040"/>
            <a:ext cx="8412480" cy="82296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0E8F5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2" name="Google Shape;182;p5"/>
          <p:cNvSpPr/>
          <p:nvPr/>
        </p:nvSpPr>
        <p:spPr>
          <a:xfrm>
            <a:off x="365760" y="3749040"/>
            <a:ext cx="502920" cy="822960"/>
          </a:xfrm>
          <a:prstGeom prst="rect">
            <a:avLst/>
          </a:prstGeom>
          <a:solidFill>
            <a:srgbClr val="D4A017"/>
          </a:solidFill>
          <a:ln cap="flat" cmpd="sng" w="12700">
            <a:solidFill>
              <a:srgbClr val="D4A01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3" name="Google Shape;183;p5"/>
          <p:cNvSpPr/>
          <p:nvPr/>
        </p:nvSpPr>
        <p:spPr>
          <a:xfrm>
            <a:off x="365760" y="3749040"/>
            <a:ext cx="50292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F-03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5"/>
          <p:cNvSpPr/>
          <p:nvPr/>
        </p:nvSpPr>
        <p:spPr>
          <a:xfrm>
            <a:off x="960120" y="3822192"/>
            <a:ext cx="3657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Headers HTTP ausentes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p5"/>
          <p:cNvSpPr/>
          <p:nvPr/>
        </p:nvSpPr>
        <p:spPr>
          <a:xfrm>
            <a:off x="960120" y="4206240"/>
            <a:ext cx="32004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4A017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D4A017"/>
                </a:solidFill>
                <a:latin typeface="Calibri"/>
                <a:ea typeface="Calibri"/>
                <a:cs typeface="Calibri"/>
                <a:sym typeface="Calibri"/>
              </a:rPr>
              <a:t>CVSS: 6.1  |  MEDIA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" name="Google Shape;186;p5"/>
          <p:cNvSpPr/>
          <p:nvPr/>
        </p:nvSpPr>
        <p:spPr>
          <a:xfrm>
            <a:off x="4389120" y="3840480"/>
            <a:ext cx="347472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A9BB5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8A9BB5"/>
                </a:solidFill>
                <a:latin typeface="Calibri"/>
                <a:ea typeface="Calibri"/>
                <a:cs typeface="Calibri"/>
                <a:sym typeface="Calibri"/>
              </a:rPr>
              <a:t>Sin X-Frame-Options ni X-Content-Type-Options. Clickjacking y MIME sniffing posibles.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" name="Google Shape;187;p5"/>
          <p:cNvSpPr/>
          <p:nvPr/>
        </p:nvSpPr>
        <p:spPr>
          <a:xfrm>
            <a:off x="7955280" y="3950208"/>
            <a:ext cx="1097280" cy="347472"/>
          </a:xfrm>
          <a:prstGeom prst="rect">
            <a:avLst/>
          </a:prstGeom>
          <a:solidFill>
            <a:srgbClr val="E2EFDA"/>
          </a:solidFill>
          <a:ln cap="flat" cmpd="sng" w="12700">
            <a:solidFill>
              <a:srgbClr val="37562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8" name="Google Shape;188;p5"/>
          <p:cNvSpPr/>
          <p:nvPr/>
        </p:nvSpPr>
        <p:spPr>
          <a:xfrm>
            <a:off x="7955280" y="3950208"/>
            <a:ext cx="109728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75623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375623"/>
                </a:solidFill>
                <a:latin typeface="Calibri"/>
                <a:ea typeface="Calibri"/>
                <a:cs typeface="Calibri"/>
                <a:sym typeface="Calibri"/>
              </a:rPr>
              <a:t>REMEDIADO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6FB"/>
        </a:solidFill>
      </p:bgPr>
    </p:bg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6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E2761"/>
          </a:solidFill>
          <a:ln cap="flat" cmpd="sng" w="12700">
            <a:solidFill>
              <a:srgbClr val="1E276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5" name="Google Shape;195;p6"/>
          <p:cNvSpPr/>
          <p:nvPr/>
        </p:nvSpPr>
        <p:spPr>
          <a:xfrm>
            <a:off x="365760" y="0"/>
            <a:ext cx="841248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Calibri"/>
              <a:buNone/>
            </a:pPr>
            <a:r>
              <a:rPr b="1" i="0" lang="en-US" sz="2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04 </a:t>
            </a:r>
            <a:r>
              <a:rPr b="1" lang="en-US" sz="2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-</a:t>
            </a:r>
            <a:r>
              <a:rPr b="1" i="0" lang="en-US" sz="2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ACCIONES CORRECTIVAS APLICADAS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" name="Google Shape;196;p6"/>
          <p:cNvSpPr/>
          <p:nvPr/>
        </p:nvSpPr>
        <p:spPr>
          <a:xfrm>
            <a:off x="365760" y="1005840"/>
            <a:ext cx="2560320" cy="164592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0E8F5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7" name="Google Shape;197;p6"/>
          <p:cNvSpPr/>
          <p:nvPr/>
        </p:nvSpPr>
        <p:spPr>
          <a:xfrm>
            <a:off x="365760" y="1005840"/>
            <a:ext cx="2560320" cy="411480"/>
          </a:xfrm>
          <a:prstGeom prst="rect">
            <a:avLst/>
          </a:prstGeom>
          <a:solidFill>
            <a:srgbClr val="1A3A6E"/>
          </a:solidFill>
          <a:ln cap="flat" cmpd="sng" w="12700">
            <a:solidFill>
              <a:srgbClr val="1E276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8" name="Google Shape;198;p6"/>
          <p:cNvSpPr/>
          <p:nvPr/>
        </p:nvSpPr>
        <p:spPr>
          <a:xfrm>
            <a:off x="438912" y="1005840"/>
            <a:ext cx="2414016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🔐  SSH asegurado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" name="Google Shape;199;p6"/>
          <p:cNvSpPr/>
          <p:nvPr/>
        </p:nvSpPr>
        <p:spPr>
          <a:xfrm>
            <a:off x="475488" y="1481328"/>
            <a:ext cx="2340864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PermitRootLogin no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PasswordAuthentication no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p6"/>
          <p:cNvSpPr/>
          <p:nvPr/>
        </p:nvSpPr>
        <p:spPr>
          <a:xfrm>
            <a:off x="475488" y="2267712"/>
            <a:ext cx="2340864" cy="256032"/>
          </a:xfrm>
          <a:prstGeom prst="rect">
            <a:avLst/>
          </a:prstGeom>
          <a:solidFill>
            <a:srgbClr val="E2EFDA"/>
          </a:solidFill>
          <a:ln cap="flat" cmpd="sng" w="12700">
            <a:solidFill>
              <a:srgbClr val="2D865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1" name="Google Shape;201;p6"/>
          <p:cNvSpPr/>
          <p:nvPr/>
        </p:nvSpPr>
        <p:spPr>
          <a:xfrm>
            <a:off x="475488" y="2267712"/>
            <a:ext cx="2340864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D8653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2D8653"/>
                </a:solidFill>
                <a:latin typeface="Calibri"/>
                <a:ea typeface="Calibri"/>
                <a:cs typeface="Calibri"/>
                <a:sym typeface="Calibri"/>
              </a:rPr>
              <a:t> Activo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" name="Google Shape;202;p6"/>
          <p:cNvSpPr/>
          <p:nvPr/>
        </p:nvSpPr>
        <p:spPr>
          <a:xfrm>
            <a:off x="3200400" y="1005840"/>
            <a:ext cx="2560320" cy="164592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0E8F5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3" name="Google Shape;203;p6"/>
          <p:cNvSpPr/>
          <p:nvPr/>
        </p:nvSpPr>
        <p:spPr>
          <a:xfrm>
            <a:off x="3200400" y="1005840"/>
            <a:ext cx="2560320" cy="411480"/>
          </a:xfrm>
          <a:prstGeom prst="rect">
            <a:avLst/>
          </a:prstGeom>
          <a:solidFill>
            <a:srgbClr val="1A3A6E"/>
          </a:solidFill>
          <a:ln cap="flat" cmpd="sng" w="12700">
            <a:solidFill>
              <a:srgbClr val="1E276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4" name="Google Shape;204;p6"/>
          <p:cNvSpPr/>
          <p:nvPr/>
        </p:nvSpPr>
        <p:spPr>
          <a:xfrm>
            <a:off x="3273552" y="1005840"/>
            <a:ext cx="2414016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🔑  Contraseña BD robusta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" name="Google Shape;205;p6"/>
          <p:cNvSpPr/>
          <p:nvPr/>
        </p:nvSpPr>
        <p:spPr>
          <a:xfrm>
            <a:off x="3310128" y="1481328"/>
            <a:ext cx="2340864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123456 → W0rdPr3ss!Secure#2024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Chmod 640 en wp-config.php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" name="Google Shape;206;p6"/>
          <p:cNvSpPr/>
          <p:nvPr/>
        </p:nvSpPr>
        <p:spPr>
          <a:xfrm>
            <a:off x="3310128" y="2267712"/>
            <a:ext cx="2340864" cy="256032"/>
          </a:xfrm>
          <a:prstGeom prst="rect">
            <a:avLst/>
          </a:prstGeom>
          <a:solidFill>
            <a:srgbClr val="E2EFDA"/>
          </a:solidFill>
          <a:ln cap="flat" cmpd="sng" w="12700">
            <a:solidFill>
              <a:srgbClr val="2D865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7" name="Google Shape;207;p6"/>
          <p:cNvSpPr/>
          <p:nvPr/>
        </p:nvSpPr>
        <p:spPr>
          <a:xfrm>
            <a:off x="3310128" y="2267712"/>
            <a:ext cx="2340864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D8653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2D8653"/>
                </a:solidFill>
                <a:latin typeface="Calibri"/>
                <a:ea typeface="Calibri"/>
                <a:cs typeface="Calibri"/>
                <a:sym typeface="Calibri"/>
              </a:rPr>
              <a:t> Activo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" name="Google Shape;208;p6"/>
          <p:cNvSpPr/>
          <p:nvPr/>
        </p:nvSpPr>
        <p:spPr>
          <a:xfrm>
            <a:off x="6035040" y="1005840"/>
            <a:ext cx="2560320" cy="164592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0E8F5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9" name="Google Shape;209;p6"/>
          <p:cNvSpPr/>
          <p:nvPr/>
        </p:nvSpPr>
        <p:spPr>
          <a:xfrm>
            <a:off x="6035040" y="1005840"/>
            <a:ext cx="2560320" cy="411480"/>
          </a:xfrm>
          <a:prstGeom prst="rect">
            <a:avLst/>
          </a:prstGeom>
          <a:solidFill>
            <a:srgbClr val="1A3A6E"/>
          </a:solidFill>
          <a:ln cap="flat" cmpd="sng" w="12700">
            <a:solidFill>
              <a:srgbClr val="1E276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0" name="Google Shape;210;p6"/>
          <p:cNvSpPr/>
          <p:nvPr/>
        </p:nvSpPr>
        <p:spPr>
          <a:xfrm>
            <a:off x="6108192" y="1005840"/>
            <a:ext cx="2414016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📁  FTP endurecido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" name="Google Shape;211;p6"/>
          <p:cNvSpPr/>
          <p:nvPr/>
        </p:nvSpPr>
        <p:spPr>
          <a:xfrm>
            <a:off x="6144768" y="1481328"/>
            <a:ext cx="2340864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anonymous_enable=NO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ssl_enable=YES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" name="Google Shape;212;p6"/>
          <p:cNvSpPr/>
          <p:nvPr/>
        </p:nvSpPr>
        <p:spPr>
          <a:xfrm>
            <a:off x="6144768" y="2267712"/>
            <a:ext cx="2340864" cy="256032"/>
          </a:xfrm>
          <a:prstGeom prst="rect">
            <a:avLst/>
          </a:prstGeom>
          <a:solidFill>
            <a:srgbClr val="E2EFDA"/>
          </a:solidFill>
          <a:ln cap="flat" cmpd="sng" w="12700">
            <a:solidFill>
              <a:srgbClr val="2D865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3" name="Google Shape;213;p6"/>
          <p:cNvSpPr/>
          <p:nvPr/>
        </p:nvSpPr>
        <p:spPr>
          <a:xfrm>
            <a:off x="6144768" y="2267712"/>
            <a:ext cx="2340864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D8653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2D8653"/>
                </a:solidFill>
                <a:latin typeface="Calibri"/>
                <a:ea typeface="Calibri"/>
                <a:cs typeface="Calibri"/>
                <a:sym typeface="Calibri"/>
              </a:rPr>
              <a:t> Activo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" name="Google Shape;214;p6"/>
          <p:cNvSpPr/>
          <p:nvPr/>
        </p:nvSpPr>
        <p:spPr>
          <a:xfrm>
            <a:off x="365760" y="2880360"/>
            <a:ext cx="2560320" cy="164592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0E8F5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5" name="Google Shape;215;p6"/>
          <p:cNvSpPr/>
          <p:nvPr/>
        </p:nvSpPr>
        <p:spPr>
          <a:xfrm>
            <a:off x="365760" y="2880360"/>
            <a:ext cx="2560320" cy="411480"/>
          </a:xfrm>
          <a:prstGeom prst="rect">
            <a:avLst/>
          </a:prstGeom>
          <a:solidFill>
            <a:srgbClr val="1A3A6E"/>
          </a:solidFill>
          <a:ln cap="flat" cmpd="sng" w="12700">
            <a:solidFill>
              <a:srgbClr val="1E276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6" name="Google Shape;216;p6"/>
          <p:cNvSpPr/>
          <p:nvPr/>
        </p:nvSpPr>
        <p:spPr>
          <a:xfrm>
            <a:off x="438912" y="2880360"/>
            <a:ext cx="2414016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🚫  xmlrpc bloqueado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" name="Google Shape;217;p6"/>
          <p:cNvSpPr/>
          <p:nvPr/>
        </p:nvSpPr>
        <p:spPr>
          <a:xfrm>
            <a:off x="475488" y="3355848"/>
            <a:ext cx="2340864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.htaccess: Deny from all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Verificado: 403 Forbidden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8" name="Google Shape;218;p6"/>
          <p:cNvSpPr/>
          <p:nvPr/>
        </p:nvSpPr>
        <p:spPr>
          <a:xfrm>
            <a:off x="475488" y="4142232"/>
            <a:ext cx="2340864" cy="256032"/>
          </a:xfrm>
          <a:prstGeom prst="rect">
            <a:avLst/>
          </a:prstGeom>
          <a:solidFill>
            <a:srgbClr val="E2EFDA"/>
          </a:solidFill>
          <a:ln cap="flat" cmpd="sng" w="12700">
            <a:solidFill>
              <a:srgbClr val="2D865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9" name="Google Shape;219;p6"/>
          <p:cNvSpPr/>
          <p:nvPr/>
        </p:nvSpPr>
        <p:spPr>
          <a:xfrm>
            <a:off x="475488" y="4142232"/>
            <a:ext cx="2340864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D8653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2D8653"/>
                </a:solidFill>
                <a:latin typeface="Calibri"/>
                <a:ea typeface="Calibri"/>
                <a:cs typeface="Calibri"/>
                <a:sym typeface="Calibri"/>
              </a:rPr>
              <a:t> Activo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0" name="Google Shape;220;p6"/>
          <p:cNvSpPr/>
          <p:nvPr/>
        </p:nvSpPr>
        <p:spPr>
          <a:xfrm>
            <a:off x="3200400" y="2880360"/>
            <a:ext cx="2560320" cy="164592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0E8F5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1" name="Google Shape;221;p6"/>
          <p:cNvSpPr/>
          <p:nvPr/>
        </p:nvSpPr>
        <p:spPr>
          <a:xfrm>
            <a:off x="3200400" y="2880360"/>
            <a:ext cx="2560320" cy="411480"/>
          </a:xfrm>
          <a:prstGeom prst="rect">
            <a:avLst/>
          </a:prstGeom>
          <a:solidFill>
            <a:srgbClr val="1A3A6E"/>
          </a:solidFill>
          <a:ln cap="flat" cmpd="sng" w="12700">
            <a:solidFill>
              <a:srgbClr val="1E276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2" name="Google Shape;222;p6"/>
          <p:cNvSpPr/>
          <p:nvPr/>
        </p:nvSpPr>
        <p:spPr>
          <a:xfrm>
            <a:off x="3273552" y="2880360"/>
            <a:ext cx="2414016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🗑  info.php eliminado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3" name="Google Shape;223;p6"/>
          <p:cNvSpPr/>
          <p:nvPr/>
        </p:nvSpPr>
        <p:spPr>
          <a:xfrm>
            <a:off x="3310128" y="3355848"/>
            <a:ext cx="2340864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Archivo phpinfo() eliminado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del directorio público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4" name="Google Shape;224;p6"/>
          <p:cNvSpPr/>
          <p:nvPr/>
        </p:nvSpPr>
        <p:spPr>
          <a:xfrm>
            <a:off x="3310128" y="4142232"/>
            <a:ext cx="2340864" cy="256032"/>
          </a:xfrm>
          <a:prstGeom prst="rect">
            <a:avLst/>
          </a:prstGeom>
          <a:solidFill>
            <a:srgbClr val="E2EFDA"/>
          </a:solidFill>
          <a:ln cap="flat" cmpd="sng" w="12700">
            <a:solidFill>
              <a:srgbClr val="2D865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5" name="Google Shape;225;p6"/>
          <p:cNvSpPr/>
          <p:nvPr/>
        </p:nvSpPr>
        <p:spPr>
          <a:xfrm>
            <a:off x="3310128" y="4142232"/>
            <a:ext cx="2340864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D8653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2D8653"/>
                </a:solidFill>
                <a:latin typeface="Calibri"/>
                <a:ea typeface="Calibri"/>
                <a:cs typeface="Calibri"/>
                <a:sym typeface="Calibri"/>
              </a:rPr>
              <a:t> Activo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6" name="Google Shape;226;p6"/>
          <p:cNvSpPr/>
          <p:nvPr/>
        </p:nvSpPr>
        <p:spPr>
          <a:xfrm>
            <a:off x="6035040" y="2880360"/>
            <a:ext cx="2560320" cy="164592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0E8F5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7" name="Google Shape;227;p6"/>
          <p:cNvSpPr/>
          <p:nvPr/>
        </p:nvSpPr>
        <p:spPr>
          <a:xfrm>
            <a:off x="6035040" y="2880360"/>
            <a:ext cx="2560320" cy="411480"/>
          </a:xfrm>
          <a:prstGeom prst="rect">
            <a:avLst/>
          </a:prstGeom>
          <a:solidFill>
            <a:srgbClr val="1A3A6E"/>
          </a:solidFill>
          <a:ln cap="flat" cmpd="sng" w="12700">
            <a:solidFill>
              <a:srgbClr val="1E276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8" name="Google Shape;228;p6"/>
          <p:cNvSpPr/>
          <p:nvPr/>
        </p:nvSpPr>
        <p:spPr>
          <a:xfrm>
            <a:off x="6108192" y="2880360"/>
            <a:ext cx="2414016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🔒  Permisos corregidos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9" name="Google Shape;229;p6"/>
          <p:cNvSpPr/>
          <p:nvPr/>
        </p:nvSpPr>
        <p:spPr>
          <a:xfrm>
            <a:off x="6144768" y="3355848"/>
            <a:ext cx="2340864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wp-config: chmod 640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Propietario: www-data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0" name="Google Shape;230;p6"/>
          <p:cNvSpPr/>
          <p:nvPr/>
        </p:nvSpPr>
        <p:spPr>
          <a:xfrm>
            <a:off x="6144768" y="4142232"/>
            <a:ext cx="2340864" cy="256032"/>
          </a:xfrm>
          <a:prstGeom prst="rect">
            <a:avLst/>
          </a:prstGeom>
          <a:solidFill>
            <a:srgbClr val="E2EFDA"/>
          </a:solidFill>
          <a:ln cap="flat" cmpd="sng" w="12700">
            <a:solidFill>
              <a:srgbClr val="2D865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1" name="Google Shape;231;p6"/>
          <p:cNvSpPr/>
          <p:nvPr/>
        </p:nvSpPr>
        <p:spPr>
          <a:xfrm>
            <a:off x="6144768" y="4142232"/>
            <a:ext cx="2340864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D8653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2D8653"/>
                </a:solidFill>
                <a:latin typeface="Calibri"/>
                <a:ea typeface="Calibri"/>
                <a:cs typeface="Calibri"/>
                <a:sym typeface="Calibri"/>
              </a:rPr>
              <a:t> Activo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6FB"/>
        </a:solidFill>
      </p:bgPr>
    </p:bg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7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E2761"/>
          </a:solidFill>
          <a:ln cap="flat" cmpd="sng" w="12700">
            <a:solidFill>
              <a:srgbClr val="1E276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8" name="Google Shape;238;p7"/>
          <p:cNvSpPr/>
          <p:nvPr/>
        </p:nvSpPr>
        <p:spPr>
          <a:xfrm>
            <a:off x="365760" y="0"/>
            <a:ext cx="841248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Calibri"/>
              <a:buNone/>
            </a:pPr>
            <a:r>
              <a:rPr b="1" i="0" lang="en-US" sz="2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05 </a:t>
            </a:r>
            <a:r>
              <a:rPr b="1" lang="en-US" sz="2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-</a:t>
            </a:r>
            <a:r>
              <a:rPr b="1" i="0" lang="en-US" sz="2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ESTADO ACTUAL DE SEGURIDAD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9" name="Google Shape;239;p7"/>
          <p:cNvSpPr/>
          <p:nvPr/>
        </p:nvSpPr>
        <p:spPr>
          <a:xfrm>
            <a:off x="365760" y="960120"/>
            <a:ext cx="39319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62839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D62839"/>
                </a:solidFill>
                <a:latin typeface="Calibri"/>
                <a:ea typeface="Calibri"/>
                <a:cs typeface="Calibri"/>
                <a:sym typeface="Calibri"/>
              </a:rPr>
              <a:t>ANTES del incidente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0" name="Google Shape;240;p7"/>
          <p:cNvSpPr/>
          <p:nvPr/>
        </p:nvSpPr>
        <p:spPr>
          <a:xfrm>
            <a:off x="4846320" y="960120"/>
            <a:ext cx="39319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D8653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2D8653"/>
                </a:solidFill>
                <a:latin typeface="Calibri"/>
                <a:ea typeface="Calibri"/>
                <a:cs typeface="Calibri"/>
                <a:sym typeface="Calibri"/>
              </a:rPr>
              <a:t>DESPUÉS de las remediaciones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1" name="Google Shape;241;p7"/>
          <p:cNvSpPr/>
          <p:nvPr/>
        </p:nvSpPr>
        <p:spPr>
          <a:xfrm>
            <a:off x="365760" y="1417320"/>
            <a:ext cx="3931920" cy="457200"/>
          </a:xfrm>
          <a:prstGeom prst="rect">
            <a:avLst/>
          </a:prstGeom>
          <a:solidFill>
            <a:srgbClr val="FFF0F0"/>
          </a:solidFill>
          <a:ln cap="flat" cmpd="sng" w="12700">
            <a:solidFill>
              <a:srgbClr val="F0C0C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2" name="Google Shape;242;p7"/>
          <p:cNvSpPr/>
          <p:nvPr/>
        </p:nvSpPr>
        <p:spPr>
          <a:xfrm>
            <a:off x="457200" y="1417320"/>
            <a:ext cx="37490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62839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D62839"/>
                </a:solidFill>
                <a:latin typeface="Calibri"/>
                <a:ea typeface="Calibri"/>
                <a:cs typeface="Calibri"/>
                <a:sym typeface="Calibri"/>
              </a:rPr>
              <a:t>  SSH: root login habilitado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3" name="Google Shape;243;p7"/>
          <p:cNvSpPr/>
          <p:nvPr/>
        </p:nvSpPr>
        <p:spPr>
          <a:xfrm>
            <a:off x="4846320" y="1417320"/>
            <a:ext cx="3931920" cy="457200"/>
          </a:xfrm>
          <a:prstGeom prst="rect">
            <a:avLst/>
          </a:prstGeom>
          <a:solidFill>
            <a:srgbClr val="F0FFF0"/>
          </a:solidFill>
          <a:ln cap="flat" cmpd="sng" w="12700">
            <a:solidFill>
              <a:srgbClr val="A8D8A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4" name="Google Shape;244;p7"/>
          <p:cNvSpPr/>
          <p:nvPr/>
        </p:nvSpPr>
        <p:spPr>
          <a:xfrm>
            <a:off x="4937760" y="1417320"/>
            <a:ext cx="37490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D8653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2D8653"/>
                </a:solidFill>
                <a:latin typeface="Calibri"/>
                <a:ea typeface="Calibri"/>
                <a:cs typeface="Calibri"/>
                <a:sym typeface="Calibri"/>
              </a:rPr>
              <a:t>  SSH: acceso root bloqueado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5" name="Google Shape;245;p7"/>
          <p:cNvSpPr/>
          <p:nvPr/>
        </p:nvSpPr>
        <p:spPr>
          <a:xfrm>
            <a:off x="4297680" y="1490472"/>
            <a:ext cx="548640" cy="301752"/>
          </a:xfrm>
          <a:prstGeom prst="rect">
            <a:avLst/>
          </a:prstGeom>
          <a:solidFill>
            <a:srgbClr val="1E2761"/>
          </a:solidFill>
          <a:ln cap="flat" cmpd="sng" w="12700">
            <a:solidFill>
              <a:srgbClr val="1E276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6" name="Google Shape;246;p7"/>
          <p:cNvSpPr/>
          <p:nvPr/>
        </p:nvSpPr>
        <p:spPr>
          <a:xfrm>
            <a:off x="4297680" y="1490472"/>
            <a:ext cx="548640" cy="30175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7" name="Google Shape;247;p7"/>
          <p:cNvSpPr/>
          <p:nvPr/>
        </p:nvSpPr>
        <p:spPr>
          <a:xfrm>
            <a:off x="365760" y="1938528"/>
            <a:ext cx="3931920" cy="457200"/>
          </a:xfrm>
          <a:prstGeom prst="rect">
            <a:avLst/>
          </a:prstGeom>
          <a:solidFill>
            <a:srgbClr val="FFF0F0"/>
          </a:solidFill>
          <a:ln cap="flat" cmpd="sng" w="12700">
            <a:solidFill>
              <a:srgbClr val="F0C0C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8" name="Google Shape;248;p7"/>
          <p:cNvSpPr/>
          <p:nvPr/>
        </p:nvSpPr>
        <p:spPr>
          <a:xfrm>
            <a:off x="457200" y="1938528"/>
            <a:ext cx="37490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62839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D62839"/>
                </a:solidFill>
                <a:latin typeface="Calibri"/>
                <a:ea typeface="Calibri"/>
                <a:cs typeface="Calibri"/>
                <a:sym typeface="Calibri"/>
              </a:rPr>
              <a:t>  Contraseña BD: 123456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9" name="Google Shape;249;p7"/>
          <p:cNvSpPr/>
          <p:nvPr/>
        </p:nvSpPr>
        <p:spPr>
          <a:xfrm>
            <a:off x="4846320" y="1938528"/>
            <a:ext cx="3931920" cy="457200"/>
          </a:xfrm>
          <a:prstGeom prst="rect">
            <a:avLst/>
          </a:prstGeom>
          <a:solidFill>
            <a:srgbClr val="F0FFF0"/>
          </a:solidFill>
          <a:ln cap="flat" cmpd="sng" w="12700">
            <a:solidFill>
              <a:srgbClr val="A8D8A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0" name="Google Shape;250;p7"/>
          <p:cNvSpPr/>
          <p:nvPr/>
        </p:nvSpPr>
        <p:spPr>
          <a:xfrm>
            <a:off x="4937760" y="1938528"/>
            <a:ext cx="37490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D8653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2D8653"/>
                </a:solidFill>
                <a:latin typeface="Calibri"/>
                <a:ea typeface="Calibri"/>
                <a:cs typeface="Calibri"/>
                <a:sym typeface="Calibri"/>
              </a:rPr>
              <a:t>  Contraseña BD: 20+ chars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1" name="Google Shape;251;p7"/>
          <p:cNvSpPr/>
          <p:nvPr/>
        </p:nvSpPr>
        <p:spPr>
          <a:xfrm>
            <a:off x="4297680" y="2011680"/>
            <a:ext cx="548640" cy="301752"/>
          </a:xfrm>
          <a:prstGeom prst="rect">
            <a:avLst/>
          </a:prstGeom>
          <a:solidFill>
            <a:srgbClr val="1E2761"/>
          </a:solidFill>
          <a:ln cap="flat" cmpd="sng" w="12700">
            <a:solidFill>
              <a:srgbClr val="1E276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2" name="Google Shape;252;p7"/>
          <p:cNvSpPr/>
          <p:nvPr/>
        </p:nvSpPr>
        <p:spPr>
          <a:xfrm>
            <a:off x="4297680" y="2011680"/>
            <a:ext cx="548640" cy="30175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3" name="Google Shape;253;p7"/>
          <p:cNvSpPr/>
          <p:nvPr/>
        </p:nvSpPr>
        <p:spPr>
          <a:xfrm>
            <a:off x="365760" y="2459736"/>
            <a:ext cx="3931920" cy="457200"/>
          </a:xfrm>
          <a:prstGeom prst="rect">
            <a:avLst/>
          </a:prstGeom>
          <a:solidFill>
            <a:srgbClr val="FFF0F0"/>
          </a:solidFill>
          <a:ln cap="flat" cmpd="sng" w="12700">
            <a:solidFill>
              <a:srgbClr val="F0C0C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4" name="Google Shape;254;p7"/>
          <p:cNvSpPr/>
          <p:nvPr/>
        </p:nvSpPr>
        <p:spPr>
          <a:xfrm>
            <a:off x="457200" y="2459736"/>
            <a:ext cx="37490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62839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D62839"/>
                </a:solidFill>
                <a:latin typeface="Calibri"/>
                <a:ea typeface="Calibri"/>
                <a:cs typeface="Calibri"/>
                <a:sym typeface="Calibri"/>
              </a:rPr>
              <a:t>  FTP anónimo + escritura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5" name="Google Shape;255;p7"/>
          <p:cNvSpPr/>
          <p:nvPr/>
        </p:nvSpPr>
        <p:spPr>
          <a:xfrm>
            <a:off x="4846320" y="2459736"/>
            <a:ext cx="3931920" cy="457200"/>
          </a:xfrm>
          <a:prstGeom prst="rect">
            <a:avLst/>
          </a:prstGeom>
          <a:solidFill>
            <a:srgbClr val="F0FFF0"/>
          </a:solidFill>
          <a:ln cap="flat" cmpd="sng" w="12700">
            <a:solidFill>
              <a:srgbClr val="A8D8A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6" name="Google Shape;256;p7"/>
          <p:cNvSpPr/>
          <p:nvPr/>
        </p:nvSpPr>
        <p:spPr>
          <a:xfrm>
            <a:off x="4937760" y="2459736"/>
            <a:ext cx="37490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D8653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2D8653"/>
                </a:solidFill>
                <a:latin typeface="Calibri"/>
                <a:ea typeface="Calibri"/>
                <a:cs typeface="Calibri"/>
                <a:sym typeface="Calibri"/>
              </a:rPr>
              <a:t>  FTP: auth requerida + SSL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7" name="Google Shape;257;p7"/>
          <p:cNvSpPr/>
          <p:nvPr/>
        </p:nvSpPr>
        <p:spPr>
          <a:xfrm>
            <a:off x="4297680" y="2532888"/>
            <a:ext cx="548640" cy="301752"/>
          </a:xfrm>
          <a:prstGeom prst="rect">
            <a:avLst/>
          </a:prstGeom>
          <a:solidFill>
            <a:srgbClr val="1E2761"/>
          </a:solidFill>
          <a:ln cap="flat" cmpd="sng" w="12700">
            <a:solidFill>
              <a:srgbClr val="1E276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8" name="Google Shape;258;p7"/>
          <p:cNvSpPr/>
          <p:nvPr/>
        </p:nvSpPr>
        <p:spPr>
          <a:xfrm>
            <a:off x="4297680" y="2532888"/>
            <a:ext cx="548640" cy="30175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9" name="Google Shape;259;p7"/>
          <p:cNvSpPr/>
          <p:nvPr/>
        </p:nvSpPr>
        <p:spPr>
          <a:xfrm>
            <a:off x="365760" y="2980944"/>
            <a:ext cx="3931920" cy="457200"/>
          </a:xfrm>
          <a:prstGeom prst="rect">
            <a:avLst/>
          </a:prstGeom>
          <a:solidFill>
            <a:srgbClr val="FFF0F0"/>
          </a:solidFill>
          <a:ln cap="flat" cmpd="sng" w="12700">
            <a:solidFill>
              <a:srgbClr val="F0C0C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0" name="Google Shape;260;p7"/>
          <p:cNvSpPr/>
          <p:nvPr/>
        </p:nvSpPr>
        <p:spPr>
          <a:xfrm>
            <a:off x="457200" y="2980944"/>
            <a:ext cx="37490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62839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D62839"/>
                </a:solidFill>
                <a:latin typeface="Calibri"/>
                <a:ea typeface="Calibri"/>
                <a:cs typeface="Calibri"/>
                <a:sym typeface="Calibri"/>
              </a:rPr>
              <a:t>  xmlrpc.php: HTTP 200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1" name="Google Shape;261;p7"/>
          <p:cNvSpPr/>
          <p:nvPr/>
        </p:nvSpPr>
        <p:spPr>
          <a:xfrm>
            <a:off x="4846320" y="2980944"/>
            <a:ext cx="3931920" cy="457200"/>
          </a:xfrm>
          <a:prstGeom prst="rect">
            <a:avLst/>
          </a:prstGeom>
          <a:solidFill>
            <a:srgbClr val="F0FFF0"/>
          </a:solidFill>
          <a:ln cap="flat" cmpd="sng" w="12700">
            <a:solidFill>
              <a:srgbClr val="A8D8A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2" name="Google Shape;262;p7"/>
          <p:cNvSpPr/>
          <p:nvPr/>
        </p:nvSpPr>
        <p:spPr>
          <a:xfrm>
            <a:off x="4937760" y="2980944"/>
            <a:ext cx="37490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D8653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2D8653"/>
                </a:solidFill>
                <a:latin typeface="Calibri"/>
                <a:ea typeface="Calibri"/>
                <a:cs typeface="Calibri"/>
                <a:sym typeface="Calibri"/>
              </a:rPr>
              <a:t>  xmlrpc.php: HTTP 403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3" name="Google Shape;263;p7"/>
          <p:cNvSpPr/>
          <p:nvPr/>
        </p:nvSpPr>
        <p:spPr>
          <a:xfrm>
            <a:off x="4297680" y="3054096"/>
            <a:ext cx="548640" cy="301752"/>
          </a:xfrm>
          <a:prstGeom prst="rect">
            <a:avLst/>
          </a:prstGeom>
          <a:solidFill>
            <a:srgbClr val="1E2761"/>
          </a:solidFill>
          <a:ln cap="flat" cmpd="sng" w="12700">
            <a:solidFill>
              <a:srgbClr val="1E276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4" name="Google Shape;264;p7"/>
          <p:cNvSpPr/>
          <p:nvPr/>
        </p:nvSpPr>
        <p:spPr>
          <a:xfrm>
            <a:off x="4297680" y="3054096"/>
            <a:ext cx="548640" cy="30175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5" name="Google Shape;265;p7"/>
          <p:cNvSpPr/>
          <p:nvPr/>
        </p:nvSpPr>
        <p:spPr>
          <a:xfrm>
            <a:off x="365760" y="3502152"/>
            <a:ext cx="3931920" cy="457200"/>
          </a:xfrm>
          <a:prstGeom prst="rect">
            <a:avLst/>
          </a:prstGeom>
          <a:solidFill>
            <a:srgbClr val="FFF0F0"/>
          </a:solidFill>
          <a:ln cap="flat" cmpd="sng" w="12700">
            <a:solidFill>
              <a:srgbClr val="F0C0C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6" name="Google Shape;266;p7"/>
          <p:cNvSpPr/>
          <p:nvPr/>
        </p:nvSpPr>
        <p:spPr>
          <a:xfrm>
            <a:off x="457200" y="3502152"/>
            <a:ext cx="37490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62839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D62839"/>
                </a:solidFill>
                <a:latin typeface="Calibri"/>
                <a:ea typeface="Calibri"/>
                <a:cs typeface="Calibri"/>
                <a:sym typeface="Calibri"/>
              </a:rPr>
              <a:t>  info.php: phpinfo() público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7" name="Google Shape;267;p7"/>
          <p:cNvSpPr/>
          <p:nvPr/>
        </p:nvSpPr>
        <p:spPr>
          <a:xfrm>
            <a:off x="4846320" y="3502152"/>
            <a:ext cx="3931920" cy="457200"/>
          </a:xfrm>
          <a:prstGeom prst="rect">
            <a:avLst/>
          </a:prstGeom>
          <a:solidFill>
            <a:srgbClr val="F0FFF0"/>
          </a:solidFill>
          <a:ln cap="flat" cmpd="sng" w="12700">
            <a:solidFill>
              <a:srgbClr val="A8D8A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8" name="Google Shape;268;p7"/>
          <p:cNvSpPr/>
          <p:nvPr/>
        </p:nvSpPr>
        <p:spPr>
          <a:xfrm>
            <a:off x="4937760" y="3502152"/>
            <a:ext cx="37490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D8653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2D8653"/>
                </a:solidFill>
                <a:latin typeface="Calibri"/>
                <a:ea typeface="Calibri"/>
                <a:cs typeface="Calibri"/>
                <a:sym typeface="Calibri"/>
              </a:rPr>
              <a:t>  info.php: eliminado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9" name="Google Shape;269;p7"/>
          <p:cNvSpPr/>
          <p:nvPr/>
        </p:nvSpPr>
        <p:spPr>
          <a:xfrm>
            <a:off x="4297680" y="3575304"/>
            <a:ext cx="548640" cy="301752"/>
          </a:xfrm>
          <a:prstGeom prst="rect">
            <a:avLst/>
          </a:prstGeom>
          <a:solidFill>
            <a:srgbClr val="1E2761"/>
          </a:solidFill>
          <a:ln cap="flat" cmpd="sng" w="12700">
            <a:solidFill>
              <a:srgbClr val="1E276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0" name="Google Shape;270;p7"/>
          <p:cNvSpPr/>
          <p:nvPr/>
        </p:nvSpPr>
        <p:spPr>
          <a:xfrm>
            <a:off x="4297680" y="3575304"/>
            <a:ext cx="548640" cy="30175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1" name="Google Shape;271;p7"/>
          <p:cNvSpPr/>
          <p:nvPr/>
        </p:nvSpPr>
        <p:spPr>
          <a:xfrm>
            <a:off x="365760" y="4023360"/>
            <a:ext cx="3931920" cy="457200"/>
          </a:xfrm>
          <a:prstGeom prst="rect">
            <a:avLst/>
          </a:prstGeom>
          <a:solidFill>
            <a:srgbClr val="FFF0F0"/>
          </a:solidFill>
          <a:ln cap="flat" cmpd="sng" w="12700">
            <a:solidFill>
              <a:srgbClr val="F0C0C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2" name="Google Shape;272;p7"/>
          <p:cNvSpPr/>
          <p:nvPr/>
        </p:nvSpPr>
        <p:spPr>
          <a:xfrm>
            <a:off x="457200" y="4023360"/>
            <a:ext cx="37490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62839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D62839"/>
                </a:solidFill>
                <a:latin typeface="Calibri"/>
                <a:ea typeface="Calibri"/>
                <a:cs typeface="Calibri"/>
                <a:sym typeface="Calibri"/>
              </a:rPr>
              <a:t>  Logs: auth.log eliminado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3" name="Google Shape;273;p7"/>
          <p:cNvSpPr/>
          <p:nvPr/>
        </p:nvSpPr>
        <p:spPr>
          <a:xfrm>
            <a:off x="4846320" y="4023360"/>
            <a:ext cx="3931920" cy="457200"/>
          </a:xfrm>
          <a:prstGeom prst="rect">
            <a:avLst/>
          </a:prstGeom>
          <a:solidFill>
            <a:srgbClr val="F0FFF0"/>
          </a:solidFill>
          <a:ln cap="flat" cmpd="sng" w="12700">
            <a:solidFill>
              <a:srgbClr val="A8D8A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4" name="Google Shape;274;p7"/>
          <p:cNvSpPr/>
          <p:nvPr/>
        </p:nvSpPr>
        <p:spPr>
          <a:xfrm>
            <a:off x="4937760" y="4023360"/>
            <a:ext cx="37490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D8653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2D8653"/>
                </a:solidFill>
                <a:latin typeface="Calibri"/>
                <a:ea typeface="Calibri"/>
                <a:cs typeface="Calibri"/>
                <a:sym typeface="Calibri"/>
              </a:rPr>
              <a:t>  Logs: journal activo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5" name="Google Shape;275;p7"/>
          <p:cNvSpPr/>
          <p:nvPr/>
        </p:nvSpPr>
        <p:spPr>
          <a:xfrm>
            <a:off x="4297680" y="4096512"/>
            <a:ext cx="548640" cy="301752"/>
          </a:xfrm>
          <a:prstGeom prst="rect">
            <a:avLst/>
          </a:prstGeom>
          <a:solidFill>
            <a:srgbClr val="1E2761"/>
          </a:solidFill>
          <a:ln cap="flat" cmpd="sng" w="12700">
            <a:solidFill>
              <a:srgbClr val="1E276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6" name="Google Shape;276;p7"/>
          <p:cNvSpPr/>
          <p:nvPr/>
        </p:nvSpPr>
        <p:spPr>
          <a:xfrm>
            <a:off x="4297680" y="4096512"/>
            <a:ext cx="548640" cy="30175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6FB"/>
        </a:solidFill>
      </p:bgPr>
    </p:bg>
    <p:spTree>
      <p:nvGrpSpPr>
        <p:cNvPr id="28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p8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E2761"/>
          </a:solidFill>
          <a:ln cap="flat" cmpd="sng" w="12700">
            <a:solidFill>
              <a:srgbClr val="1E276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3" name="Google Shape;283;p8"/>
          <p:cNvSpPr/>
          <p:nvPr/>
        </p:nvSpPr>
        <p:spPr>
          <a:xfrm>
            <a:off x="365760" y="0"/>
            <a:ext cx="841248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Calibri"/>
              <a:buNone/>
            </a:pPr>
            <a:r>
              <a:rPr b="1" i="0" lang="en-US" sz="2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06 </a:t>
            </a:r>
            <a:r>
              <a:rPr b="1" lang="en-US" sz="2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-</a:t>
            </a:r>
            <a:r>
              <a:rPr b="1" i="0" lang="en-US" sz="2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RECOMENDACIONES PARA LA GERENCIA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4" name="Google Shape;284;p8"/>
          <p:cNvSpPr/>
          <p:nvPr/>
        </p:nvSpPr>
        <p:spPr>
          <a:xfrm>
            <a:off x="365760" y="960120"/>
            <a:ext cx="2651760" cy="38862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0E8F5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5" name="Google Shape;285;p8"/>
          <p:cNvSpPr/>
          <p:nvPr/>
        </p:nvSpPr>
        <p:spPr>
          <a:xfrm>
            <a:off x="365760" y="960120"/>
            <a:ext cx="2651760" cy="457200"/>
          </a:xfrm>
          <a:prstGeom prst="rect">
            <a:avLst/>
          </a:prstGeom>
          <a:solidFill>
            <a:srgbClr val="D62839"/>
          </a:solidFill>
          <a:ln cap="flat" cmpd="sng" w="12700">
            <a:solidFill>
              <a:srgbClr val="D6283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6" name="Google Shape;286;p8"/>
          <p:cNvSpPr/>
          <p:nvPr/>
        </p:nvSpPr>
        <p:spPr>
          <a:xfrm>
            <a:off x="365760" y="960120"/>
            <a:ext cx="26517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INMEDIATO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7" name="Google Shape;287;p8"/>
          <p:cNvSpPr/>
          <p:nvPr/>
        </p:nvSpPr>
        <p:spPr>
          <a:xfrm>
            <a:off x="502920" y="1554480"/>
            <a:ext cx="237744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62839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D62839"/>
                </a:solidFill>
                <a:latin typeface="Calibri"/>
                <a:ea typeface="Calibri"/>
                <a:cs typeface="Calibri"/>
                <a:sym typeface="Calibri"/>
              </a:rPr>
              <a:t>› </a:t>
            </a:r>
            <a:r>
              <a:rPr b="0" i="0" lang="en-US" sz="11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Instalar Fail2Ban </a:t>
            </a:r>
            <a:r>
              <a:rPr lang="en-US" sz="1100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-</a:t>
            </a:r>
            <a:r>
              <a:rPr b="0" i="0" lang="en-US" sz="11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 bloqueo automático de IPs con ataques de fuerza bruta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8" name="Google Shape;288;p8"/>
          <p:cNvSpPr/>
          <p:nvPr/>
        </p:nvSpPr>
        <p:spPr>
          <a:xfrm>
            <a:off x="502920" y="2468880"/>
            <a:ext cx="237744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62839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D62839"/>
                </a:solidFill>
                <a:latin typeface="Calibri"/>
                <a:ea typeface="Calibri"/>
                <a:cs typeface="Calibri"/>
                <a:sym typeface="Calibri"/>
              </a:rPr>
              <a:t>› </a:t>
            </a:r>
            <a:r>
              <a:rPr b="0" i="0" lang="en-US" sz="11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Configurar firewall UFW </a:t>
            </a:r>
            <a:r>
              <a:rPr lang="en-US" sz="1100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-</a:t>
            </a:r>
            <a:r>
              <a:rPr b="0" i="0" lang="en-US" sz="11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 limitar acceso a puertos 22, 21, 80 por IP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9" name="Google Shape;289;p8"/>
          <p:cNvSpPr/>
          <p:nvPr/>
        </p:nvSpPr>
        <p:spPr>
          <a:xfrm>
            <a:off x="502920" y="3383280"/>
            <a:ext cx="237744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62839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D62839"/>
                </a:solidFill>
                <a:latin typeface="Calibri"/>
                <a:ea typeface="Calibri"/>
                <a:cs typeface="Calibri"/>
                <a:sym typeface="Calibri"/>
              </a:rPr>
              <a:t>› </a:t>
            </a:r>
            <a:r>
              <a:rPr b="0" i="0" lang="en-US" sz="11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Activar logging persistente (rsyslog) </a:t>
            </a:r>
            <a:r>
              <a:rPr lang="en-US" sz="1100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-</a:t>
            </a:r>
            <a:r>
              <a:rPr b="0" i="0" lang="en-US" sz="11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 evitar pérdida de evidencias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0" name="Google Shape;290;p8"/>
          <p:cNvSpPr/>
          <p:nvPr/>
        </p:nvSpPr>
        <p:spPr>
          <a:xfrm>
            <a:off x="3291840" y="960120"/>
            <a:ext cx="2651760" cy="38862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0E8F5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1" name="Google Shape;291;p8"/>
          <p:cNvSpPr/>
          <p:nvPr/>
        </p:nvSpPr>
        <p:spPr>
          <a:xfrm>
            <a:off x="3291840" y="960120"/>
            <a:ext cx="2651760" cy="457200"/>
          </a:xfrm>
          <a:prstGeom prst="rect">
            <a:avLst/>
          </a:prstGeom>
          <a:solidFill>
            <a:srgbClr val="E07B39"/>
          </a:solidFill>
          <a:ln cap="flat" cmpd="sng" w="12700">
            <a:solidFill>
              <a:srgbClr val="E07B3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2" name="Google Shape;292;p8"/>
          <p:cNvSpPr/>
          <p:nvPr/>
        </p:nvSpPr>
        <p:spPr>
          <a:xfrm>
            <a:off x="3291840" y="960120"/>
            <a:ext cx="26517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CORTO PLAZO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3" name="Google Shape;293;p8"/>
          <p:cNvSpPr/>
          <p:nvPr/>
        </p:nvSpPr>
        <p:spPr>
          <a:xfrm>
            <a:off x="3429000" y="1554480"/>
            <a:ext cx="237744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7B39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E07B39"/>
                </a:solidFill>
                <a:latin typeface="Calibri"/>
                <a:ea typeface="Calibri"/>
                <a:cs typeface="Calibri"/>
                <a:sym typeface="Calibri"/>
              </a:rPr>
              <a:t>› </a:t>
            </a:r>
            <a:r>
              <a:rPr b="0" i="0" lang="en-US" sz="11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Autenticación SSH por clave pública </a:t>
            </a:r>
            <a:r>
              <a:rPr lang="en-US" sz="1100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-</a:t>
            </a:r>
            <a:r>
              <a:rPr b="0" i="0" lang="en-US" sz="11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 eliminar contraseñas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4" name="Google Shape;294;p8"/>
          <p:cNvSpPr/>
          <p:nvPr/>
        </p:nvSpPr>
        <p:spPr>
          <a:xfrm>
            <a:off x="3429000" y="2468880"/>
            <a:ext cx="237744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7B39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E07B39"/>
                </a:solidFill>
                <a:latin typeface="Calibri"/>
                <a:ea typeface="Calibri"/>
                <a:cs typeface="Calibri"/>
                <a:sym typeface="Calibri"/>
              </a:rPr>
              <a:t>› </a:t>
            </a:r>
            <a:r>
              <a:rPr b="0" i="0" lang="en-US" sz="11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Deshabilitar directory listing en Apache </a:t>
            </a:r>
            <a:r>
              <a:rPr lang="en-US" sz="1100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-</a:t>
            </a:r>
            <a:r>
              <a:rPr b="0" i="0" lang="en-US" sz="11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 Options -Indexes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5" name="Google Shape;295;p8"/>
          <p:cNvSpPr/>
          <p:nvPr/>
        </p:nvSpPr>
        <p:spPr>
          <a:xfrm>
            <a:off x="3429000" y="3383280"/>
            <a:ext cx="237744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7B39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E07B39"/>
                </a:solidFill>
                <a:latin typeface="Calibri"/>
                <a:ea typeface="Calibri"/>
                <a:cs typeface="Calibri"/>
                <a:sym typeface="Calibri"/>
              </a:rPr>
              <a:t>› </a:t>
            </a:r>
            <a:r>
              <a:rPr b="0" i="0" lang="en-US" sz="11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Añadir headers de seguridad HTTP </a:t>
            </a:r>
            <a:r>
              <a:rPr lang="en-US" sz="1100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-</a:t>
            </a:r>
            <a:r>
              <a:rPr b="0" i="0" lang="en-US" sz="11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 X-Frame-Options, CSP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6" name="Google Shape;296;p8"/>
          <p:cNvSpPr/>
          <p:nvPr/>
        </p:nvSpPr>
        <p:spPr>
          <a:xfrm>
            <a:off x="6217920" y="960120"/>
            <a:ext cx="2651760" cy="38862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0E8F5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7" name="Google Shape;297;p8"/>
          <p:cNvSpPr/>
          <p:nvPr/>
        </p:nvSpPr>
        <p:spPr>
          <a:xfrm>
            <a:off x="6217920" y="960120"/>
            <a:ext cx="2651760" cy="457200"/>
          </a:xfrm>
          <a:prstGeom prst="rect">
            <a:avLst/>
          </a:prstGeom>
          <a:solidFill>
            <a:srgbClr val="1E2761"/>
          </a:solidFill>
          <a:ln cap="flat" cmpd="sng" w="12700">
            <a:solidFill>
              <a:srgbClr val="1E276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8" name="Google Shape;298;p8"/>
          <p:cNvSpPr/>
          <p:nvPr/>
        </p:nvSpPr>
        <p:spPr>
          <a:xfrm>
            <a:off x="6217920" y="960120"/>
            <a:ext cx="26517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PLANIFICADO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9" name="Google Shape;299;p8"/>
          <p:cNvSpPr/>
          <p:nvPr/>
        </p:nvSpPr>
        <p:spPr>
          <a:xfrm>
            <a:off x="6355080" y="1554480"/>
            <a:ext cx="237744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› </a:t>
            </a:r>
            <a:r>
              <a:rPr b="0" i="0" lang="en-US" sz="11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Auditorías de seguridad trimestrales con Nmap + Nikto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0" name="Google Shape;300;p8"/>
          <p:cNvSpPr/>
          <p:nvPr/>
        </p:nvSpPr>
        <p:spPr>
          <a:xfrm>
            <a:off x="6355080" y="2468880"/>
            <a:ext cx="237744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› </a:t>
            </a:r>
            <a:r>
              <a:rPr b="0" i="0" lang="en-US" sz="11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Sistema de monitorización continua (Wazuh / OSSEC)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1" name="Google Shape;301;p8"/>
          <p:cNvSpPr/>
          <p:nvPr/>
        </p:nvSpPr>
        <p:spPr>
          <a:xfrm>
            <a:off x="6355080" y="3383280"/>
            <a:ext cx="237744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› </a:t>
            </a:r>
            <a:r>
              <a:rPr b="0" i="0" lang="en-US" sz="11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Capacitación del equipo en respuesta a incidentes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E2761"/>
        </a:solidFill>
      </p:bgPr>
    </p:bg>
    <p:spTree>
      <p:nvGrpSpPr>
        <p:cNvPr id="306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p9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4FC3F7"/>
          </a:solidFill>
          <a:ln cap="flat" cmpd="sng" w="12700">
            <a:solidFill>
              <a:srgbClr val="4FC3F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8" name="Google Shape;308;p9"/>
          <p:cNvSpPr/>
          <p:nvPr/>
        </p:nvSpPr>
        <p:spPr>
          <a:xfrm>
            <a:off x="457200" y="731520"/>
            <a:ext cx="82296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Calibri"/>
              <a:buNone/>
            </a:pPr>
            <a:r>
              <a:rPr b="1" i="0" lang="en-US" sz="3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CONCLUSIÓN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09" name="Google Shape;309;p9"/>
          <p:cNvCxnSpPr/>
          <p:nvPr/>
        </p:nvCxnSpPr>
        <p:spPr>
          <a:xfrm>
            <a:off x="457200" y="1325880"/>
            <a:ext cx="5029200" cy="0"/>
          </a:xfrm>
          <a:prstGeom prst="straightConnector1">
            <a:avLst/>
          </a:prstGeom>
          <a:noFill/>
          <a:ln cap="flat" cmpd="sng" w="19050">
            <a:solidFill>
              <a:srgbClr val="4FC3F7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10" name="Google Shape;310;p9"/>
          <p:cNvSpPr/>
          <p:nvPr/>
        </p:nvSpPr>
        <p:spPr>
          <a:xfrm>
            <a:off x="457200" y="1463040"/>
            <a:ext cx="548640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El servidor ha sido analizado, remediado y verificado.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Todas las vulnerabilidades críticas han sido corregidas.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1" name="Google Shape;311;p9"/>
          <p:cNvSpPr/>
          <p:nvPr/>
        </p:nvSpPr>
        <p:spPr>
          <a:xfrm>
            <a:off x="457200" y="2468880"/>
            <a:ext cx="1645920" cy="1371600"/>
          </a:xfrm>
          <a:prstGeom prst="rect">
            <a:avLst/>
          </a:prstGeom>
          <a:solidFill>
            <a:srgbClr val="162050"/>
          </a:solidFill>
          <a:ln cap="flat" cmpd="sng" w="12700">
            <a:solidFill>
              <a:srgbClr val="4FC3F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2" name="Google Shape;312;p9"/>
          <p:cNvSpPr/>
          <p:nvPr/>
        </p:nvSpPr>
        <p:spPr>
          <a:xfrm>
            <a:off x="457200" y="2514600"/>
            <a:ext cx="164592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FC3F7"/>
              </a:buClr>
              <a:buSzPts val="3600"/>
              <a:buFont typeface="Calibri"/>
              <a:buNone/>
            </a:pPr>
            <a:r>
              <a:rPr b="1" i="0" lang="en-US" sz="3600" u="none" cap="none" strike="noStrike">
                <a:solidFill>
                  <a:srgbClr val="4FC3F7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3" name="Google Shape;313;p9"/>
          <p:cNvSpPr/>
          <p:nvPr/>
        </p:nvSpPr>
        <p:spPr>
          <a:xfrm>
            <a:off x="457200" y="3154680"/>
            <a:ext cx="164592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Vulnerabilidades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identificadas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4" name="Google Shape;314;p9"/>
          <p:cNvSpPr/>
          <p:nvPr/>
        </p:nvSpPr>
        <p:spPr>
          <a:xfrm>
            <a:off x="2377440" y="2468880"/>
            <a:ext cx="1645920" cy="1371600"/>
          </a:xfrm>
          <a:prstGeom prst="rect">
            <a:avLst/>
          </a:prstGeom>
          <a:solidFill>
            <a:srgbClr val="162050"/>
          </a:solidFill>
          <a:ln cap="flat" cmpd="sng" w="12700">
            <a:solidFill>
              <a:srgbClr val="4FC3F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5" name="Google Shape;315;p9"/>
          <p:cNvSpPr/>
          <p:nvPr/>
        </p:nvSpPr>
        <p:spPr>
          <a:xfrm>
            <a:off x="2377440" y="2514600"/>
            <a:ext cx="164592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FC3F7"/>
              </a:buClr>
              <a:buSzPts val="3600"/>
              <a:buFont typeface="Calibri"/>
              <a:buNone/>
            </a:pPr>
            <a:r>
              <a:rPr b="1" i="0" lang="en-US" sz="3600" u="none" cap="none" strike="noStrike">
                <a:solidFill>
                  <a:srgbClr val="4FC3F7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6" name="Google Shape;316;p9"/>
          <p:cNvSpPr/>
          <p:nvPr/>
        </p:nvSpPr>
        <p:spPr>
          <a:xfrm>
            <a:off x="2377440" y="3154680"/>
            <a:ext cx="164592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Remediaciones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aplicadas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7" name="Google Shape;317;p9"/>
          <p:cNvSpPr/>
          <p:nvPr/>
        </p:nvSpPr>
        <p:spPr>
          <a:xfrm>
            <a:off x="4297680" y="2468880"/>
            <a:ext cx="1645920" cy="1371600"/>
          </a:xfrm>
          <a:prstGeom prst="rect">
            <a:avLst/>
          </a:prstGeom>
          <a:solidFill>
            <a:srgbClr val="162050"/>
          </a:solidFill>
          <a:ln cap="flat" cmpd="sng" w="12700">
            <a:solidFill>
              <a:srgbClr val="4FC3F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8" name="Google Shape;318;p9"/>
          <p:cNvSpPr/>
          <p:nvPr/>
        </p:nvSpPr>
        <p:spPr>
          <a:xfrm>
            <a:off x="4297680" y="2514600"/>
            <a:ext cx="164592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FC3F7"/>
              </a:buClr>
              <a:buSzPts val="3600"/>
              <a:buFont typeface="Calibri"/>
              <a:buNone/>
            </a:pPr>
            <a:r>
              <a:rPr b="1" i="0" lang="en-US" sz="3600" u="none" cap="none" strike="noStrike">
                <a:solidFill>
                  <a:srgbClr val="4FC3F7"/>
                </a:solidFill>
                <a:latin typeface="Calibri"/>
                <a:ea typeface="Calibri"/>
                <a:cs typeface="Calibri"/>
                <a:sym typeface="Calibri"/>
              </a:rPr>
              <a:t>100%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9" name="Google Shape;319;p9"/>
          <p:cNvSpPr/>
          <p:nvPr/>
        </p:nvSpPr>
        <p:spPr>
          <a:xfrm>
            <a:off x="4297680" y="3154680"/>
            <a:ext cx="164592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Vectores de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ataque cerrados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0" name="Google Shape;320;p9"/>
          <p:cNvSpPr/>
          <p:nvPr/>
        </p:nvSpPr>
        <p:spPr>
          <a:xfrm>
            <a:off x="457200" y="4023360"/>
            <a:ext cx="59436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A9BB5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8A9BB5"/>
                </a:solidFill>
                <a:latin typeface="Calibri"/>
                <a:ea typeface="Calibri"/>
                <a:cs typeface="Calibri"/>
                <a:sym typeface="Calibri"/>
              </a:rPr>
              <a:t>El nivel de riesgo ha pasado de CRÍTICO a BAJO.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A9BB5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8A9BB5"/>
                </a:solidFill>
                <a:latin typeface="Calibri"/>
                <a:ea typeface="Calibri"/>
                <a:cs typeface="Calibri"/>
                <a:sym typeface="Calibri"/>
              </a:rPr>
              <a:t>Se recomienda implementar las medidas adicionales presentadas.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1" name="Google Shape;321;p9"/>
          <p:cNvSpPr/>
          <p:nvPr/>
        </p:nvSpPr>
        <p:spPr>
          <a:xfrm>
            <a:off x="6675120" y="1005840"/>
            <a:ext cx="2011680" cy="3657600"/>
          </a:xfrm>
          <a:prstGeom prst="rect">
            <a:avLst/>
          </a:prstGeom>
          <a:solidFill>
            <a:srgbClr val="162050"/>
          </a:solidFill>
          <a:ln cap="flat" cmpd="sng" w="12700">
            <a:solidFill>
              <a:srgbClr val="4FC3F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2" name="Google Shape;322;p9"/>
          <p:cNvSpPr/>
          <p:nvPr/>
        </p:nvSpPr>
        <p:spPr>
          <a:xfrm>
            <a:off x="6675120" y="1097280"/>
            <a:ext cx="201168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FC3F7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4FC3F7"/>
                </a:solidFill>
                <a:latin typeface="Calibri"/>
                <a:ea typeface="Calibri"/>
                <a:cs typeface="Calibri"/>
                <a:sym typeface="Calibri"/>
              </a:rPr>
              <a:t>ESTADO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FC3F7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4FC3F7"/>
                </a:solidFill>
                <a:latin typeface="Calibri"/>
                <a:ea typeface="Calibri"/>
                <a:cs typeface="Calibri"/>
                <a:sym typeface="Calibri"/>
              </a:rPr>
              <a:t>FINAL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23" name="Google Shape;323;p9"/>
          <p:cNvCxnSpPr/>
          <p:nvPr/>
        </p:nvCxnSpPr>
        <p:spPr>
          <a:xfrm>
            <a:off x="6858000" y="1828800"/>
            <a:ext cx="1645920" cy="0"/>
          </a:xfrm>
          <a:prstGeom prst="straightConnector1">
            <a:avLst/>
          </a:prstGeom>
          <a:noFill/>
          <a:ln cap="flat" cmpd="sng" w="9525">
            <a:solidFill>
              <a:srgbClr val="4FC3F7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24" name="Google Shape;324;p9"/>
          <p:cNvSpPr/>
          <p:nvPr/>
        </p:nvSpPr>
        <p:spPr>
          <a:xfrm>
            <a:off x="6675120" y="1920240"/>
            <a:ext cx="20116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FFB0"/>
              </a:buClr>
              <a:buSzPts val="1300"/>
              <a:buFont typeface="Consolas"/>
              <a:buNone/>
            </a:pPr>
            <a:r>
              <a:rPr b="0" i="0" lang="en-US" sz="1300" u="none" cap="none" strike="noStrike">
                <a:solidFill>
                  <a:srgbClr val="7FFFB0"/>
                </a:solidFill>
                <a:latin typeface="Consolas"/>
                <a:ea typeface="Consolas"/>
                <a:cs typeface="Consolas"/>
                <a:sym typeface="Consolas"/>
              </a:rPr>
              <a:t>SSH 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5" name="Google Shape;325;p9"/>
          <p:cNvSpPr/>
          <p:nvPr/>
        </p:nvSpPr>
        <p:spPr>
          <a:xfrm>
            <a:off x="6675120" y="2377440"/>
            <a:ext cx="20116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FFB0"/>
              </a:buClr>
              <a:buSzPts val="1300"/>
              <a:buFont typeface="Consolas"/>
              <a:buNone/>
            </a:pPr>
            <a:r>
              <a:rPr b="0" i="0" lang="en-US" sz="1300" u="none" cap="none" strike="noStrike">
                <a:solidFill>
                  <a:srgbClr val="7FFFB0"/>
                </a:solidFill>
                <a:latin typeface="Consolas"/>
                <a:ea typeface="Consolas"/>
                <a:cs typeface="Consolas"/>
                <a:sym typeface="Consolas"/>
              </a:rPr>
              <a:t>FTP 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6" name="Google Shape;326;p9"/>
          <p:cNvSpPr/>
          <p:nvPr/>
        </p:nvSpPr>
        <p:spPr>
          <a:xfrm>
            <a:off x="6675120" y="2834640"/>
            <a:ext cx="20116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FFB0"/>
              </a:buClr>
              <a:buSzPts val="1300"/>
              <a:buFont typeface="Consolas"/>
              <a:buNone/>
            </a:pPr>
            <a:r>
              <a:rPr b="0" i="0" lang="en-US" sz="1300" u="none" cap="none" strike="noStrike">
                <a:solidFill>
                  <a:srgbClr val="7FFFB0"/>
                </a:solidFill>
                <a:latin typeface="Consolas"/>
                <a:ea typeface="Consolas"/>
                <a:cs typeface="Consolas"/>
                <a:sym typeface="Consolas"/>
              </a:rPr>
              <a:t>HTTP 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7" name="Google Shape;327;p9"/>
          <p:cNvSpPr/>
          <p:nvPr/>
        </p:nvSpPr>
        <p:spPr>
          <a:xfrm>
            <a:off x="6675120" y="3291840"/>
            <a:ext cx="20116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FFB0"/>
              </a:buClr>
              <a:buSzPts val="1300"/>
              <a:buFont typeface="Consolas"/>
              <a:buNone/>
            </a:pPr>
            <a:r>
              <a:rPr b="0" i="0" lang="en-US" sz="1300" u="none" cap="none" strike="noStrike">
                <a:solidFill>
                  <a:srgbClr val="7FFFB0"/>
                </a:solidFill>
                <a:latin typeface="Consolas"/>
                <a:ea typeface="Consolas"/>
                <a:cs typeface="Consolas"/>
                <a:sym typeface="Consolas"/>
              </a:rPr>
              <a:t>MariaDB 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8" name="Google Shape;328;p9"/>
          <p:cNvSpPr/>
          <p:nvPr/>
        </p:nvSpPr>
        <p:spPr>
          <a:xfrm>
            <a:off x="6675120" y="3749040"/>
            <a:ext cx="20116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FFB0"/>
              </a:buClr>
              <a:buSzPts val="1300"/>
              <a:buFont typeface="Consolas"/>
              <a:buNone/>
            </a:pPr>
            <a:r>
              <a:rPr b="0" i="0" lang="en-US" sz="1300" u="none" cap="none" strike="noStrike">
                <a:solidFill>
                  <a:srgbClr val="7FFFB0"/>
                </a:solidFill>
                <a:latin typeface="Consolas"/>
                <a:ea typeface="Consolas"/>
                <a:cs typeface="Consolas"/>
                <a:sym typeface="Consolas"/>
              </a:rPr>
              <a:t>xmlrpc 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