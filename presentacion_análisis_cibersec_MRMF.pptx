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iBev5Dkg4Ply458GkDk07oGhXb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2" name="Google Shape;7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7" name="Google Shape;10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5" name="Google Shape;2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0" name="Google Shape;28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5" name="Google Shape;30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C3F7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914400" y="640080"/>
            <a:ext cx="1280160" cy="1280160"/>
          </a:xfrm>
          <a:prstGeom prst="ellipse">
            <a:avLst/>
          </a:prstGeom>
          <a:solidFill>
            <a:srgbClr val="1A3A6E"/>
          </a:solidFill>
          <a:ln cap="flat" cmpd="sng" w="254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2011680"/>
            <a:ext cx="5303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lang="en-US" sz="3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INFORME PENTESTING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260604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Incidente de Ciberseguridad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0175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4Geeks Academy </a:t>
            </a:r>
            <a:r>
              <a:rPr lang="en-US" sz="1600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6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 Servidor </a:t>
            </a:r>
            <a:r>
              <a:rPr lang="en-US" sz="1600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DEBIAN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" name="Google Shape;21;p1"/>
          <p:cNvCxnSpPr/>
          <p:nvPr/>
        </p:nvCxnSpPr>
        <p:spPr>
          <a:xfrm>
            <a:off x="457200" y="3520440"/>
            <a:ext cx="5029200" cy="0"/>
          </a:xfrm>
          <a:prstGeom prst="straightConnector1">
            <a:avLst/>
          </a:prstGeom>
          <a:noFill/>
          <a:ln cap="flat" cmpd="sng" w="1905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" name="Google Shape;22;p1"/>
          <p:cNvSpPr/>
          <p:nvPr/>
        </p:nvSpPr>
        <p:spPr>
          <a:xfrm>
            <a:off x="457200" y="365760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Analista: </a:t>
            </a:r>
            <a:r>
              <a:rPr lang="en-US" sz="1300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Manuel Rosario Marín Fernández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57200" y="39319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Fecha: </a:t>
            </a:r>
            <a:r>
              <a:rPr b="0" i="0" lang="en-US" sz="13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19 de marzo de 2026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914400"/>
            <a:ext cx="2834640" cy="3200400"/>
          </a:xfrm>
          <a:prstGeom prst="rect">
            <a:avLst/>
          </a:prstGeom>
          <a:solidFill>
            <a:srgbClr val="162050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943575" y="1112553"/>
            <a:ext cx="2834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100"/>
              <a:buFont typeface="Calibri"/>
              <a:buNone/>
            </a:pPr>
            <a:r>
              <a:rPr b="1" i="0" lang="en-US" sz="18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INCIDENTE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" name="Google Shape;26;p1"/>
          <p:cNvCxnSpPr/>
          <p:nvPr/>
        </p:nvCxnSpPr>
        <p:spPr>
          <a:xfrm>
            <a:off x="6126493" y="1646160"/>
            <a:ext cx="2469000" cy="0"/>
          </a:xfrm>
          <a:prstGeom prst="straightConnector1">
            <a:avLst/>
          </a:prstGeom>
          <a:noFill/>
          <a:ln cap="flat" cmpd="sng" w="9525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" name="Google Shape;27;p1"/>
          <p:cNvSpPr/>
          <p:nvPr/>
        </p:nvSpPr>
        <p:spPr>
          <a:xfrm>
            <a:off x="5943600" y="1760325"/>
            <a:ext cx="2834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8 Oct 2024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17:40:59 EDT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5943600" y="2423160"/>
            <a:ext cx="283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Acceso root no autorizado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desde 192.168.0.134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6446520" y="2971800"/>
            <a:ext cx="1828800" cy="347472"/>
          </a:xfrm>
          <a:prstGeom prst="rect">
            <a:avLst/>
          </a:prstGeom>
          <a:solidFill>
            <a:srgbClr val="D62839"/>
          </a:solidFill>
          <a:ln cap="flat" cmpd="sng" w="1270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6446520" y="297180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P1 </a:t>
            </a: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CRÍTICO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" name="Google Shape;3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1035" y="441963"/>
            <a:ext cx="1706880" cy="170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B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CONTENIDO DE LA PRESENTACIÓN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365760" y="1005840"/>
            <a:ext cx="402336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365760" y="1005840"/>
            <a:ext cx="502920" cy="9144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365760" y="1005840"/>
            <a:ext cx="502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960120" y="1097280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Resumen del incidente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960120" y="1481328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Qué ocurrió, cuándo y cómo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365760" y="2194560"/>
            <a:ext cx="402336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365760" y="2194560"/>
            <a:ext cx="502920" cy="9144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365760" y="2194560"/>
            <a:ext cx="502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960120" y="2286000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Análisis forense </a:t>
            </a:r>
            <a:r>
              <a:rPr b="1" lang="en-US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Fase 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960120" y="2670048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Vulnerabilidades identificadas y evidencias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365760" y="3383280"/>
            <a:ext cx="402336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365760" y="3383280"/>
            <a:ext cx="502920" cy="9144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365760" y="3383280"/>
            <a:ext cx="502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960120" y="3474720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Pentesting </a:t>
            </a:r>
            <a:r>
              <a:rPr b="1" lang="en-US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Fase 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960120" y="3858768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Nuevas vulnerabilidades detectadas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754880" y="1005840"/>
            <a:ext cx="402336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4754880" y="1005840"/>
            <a:ext cx="502920" cy="9144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4754880" y="1005840"/>
            <a:ext cx="502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5349240" y="1097280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Acciones correctivas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5349240" y="1481328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Remediaciones aplicadas y verificadas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4754880" y="2194560"/>
            <a:ext cx="402336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4754880" y="2194560"/>
            <a:ext cx="502920" cy="9144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4754880" y="2194560"/>
            <a:ext cx="502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5349240" y="2286000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Estado actual de seguridad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5349240" y="2670048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Situación tras las correcciones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4754880" y="3383280"/>
            <a:ext cx="4023360" cy="914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4754880" y="3383280"/>
            <a:ext cx="502920" cy="9144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4754880" y="3383280"/>
            <a:ext cx="502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5349240" y="3474720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Recomendaciones futuras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5349240" y="3858768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Próximos pasos para la gerencia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B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 </a:t>
            </a: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RESUMEN DEL INCIDENTE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3"/>
          <p:cNvCxnSpPr/>
          <p:nvPr/>
        </p:nvCxnSpPr>
        <p:spPr>
          <a:xfrm>
            <a:off x="640080" y="2834640"/>
            <a:ext cx="7863840" cy="0"/>
          </a:xfrm>
          <a:prstGeom prst="straightConnector1">
            <a:avLst/>
          </a:prstGeom>
          <a:noFill/>
          <a:ln cap="flat" cmpd="sng" w="254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" name="Google Shape;77;p3"/>
          <p:cNvSpPr/>
          <p:nvPr/>
        </p:nvSpPr>
        <p:spPr>
          <a:xfrm>
            <a:off x="960120" y="2606040"/>
            <a:ext cx="457200" cy="457200"/>
          </a:xfrm>
          <a:prstGeom prst="ellipse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457200" y="169164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Sep 2024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457200" y="1005840"/>
            <a:ext cx="1463040" cy="64008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45720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Instalación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365760" y="3200400"/>
            <a:ext cx="1645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Stack LAMP + WordPress + SSH configurado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2651760" y="2606040"/>
            <a:ext cx="457200" cy="457200"/>
          </a:xfrm>
          <a:prstGeom prst="ellipse">
            <a:avLst/>
          </a:prstGeom>
          <a:solidFill>
            <a:srgbClr val="D62839"/>
          </a:solidFill>
          <a:ln cap="flat" cmpd="sng" w="1270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2148840" y="169164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8 Oct 17:40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2148840" y="1005840"/>
            <a:ext cx="1463040" cy="640080"/>
          </a:xfrm>
          <a:prstGeom prst="rect">
            <a:avLst/>
          </a:prstGeom>
          <a:solidFill>
            <a:srgbClr val="D62839"/>
          </a:solidFill>
          <a:ln cap="flat" cmpd="sng" w="1270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214884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INTRUSIÓN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2057400" y="3200400"/>
            <a:ext cx="1645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Acceso SSH root desde 192.168.0.134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4343400" y="2606040"/>
            <a:ext cx="457200" cy="457200"/>
          </a:xfrm>
          <a:prstGeom prst="ellipse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3840480" y="169164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8 Oct post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3840480" y="1005840"/>
            <a:ext cx="1463040" cy="640080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384048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Borrado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3749040" y="3200400"/>
            <a:ext cx="1645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auth.log y syslog eliminados por atacante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035040" y="2606040"/>
            <a:ext cx="457200" cy="457200"/>
          </a:xfrm>
          <a:prstGeom prst="ellipse">
            <a:avLst/>
          </a:prstGeom>
          <a:solidFill>
            <a:srgbClr val="1A6B9A"/>
          </a:solidFill>
          <a:ln cap="flat" cmpd="sng" w="12700">
            <a:solidFill>
              <a:srgbClr val="1A6B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5532120" y="169164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Mar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5532120" y="1005840"/>
            <a:ext cx="1463040" cy="640080"/>
          </a:xfrm>
          <a:prstGeom prst="rect">
            <a:avLst/>
          </a:prstGeom>
          <a:solidFill>
            <a:srgbClr val="1A6B9A"/>
          </a:solidFill>
          <a:ln cap="flat" cmpd="sng" w="12700">
            <a:solidFill>
              <a:srgbClr val="1A6B9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553212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Detección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5440680" y="3200400"/>
            <a:ext cx="1645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Análisis forense identifica el compromiso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7726680" y="2606040"/>
            <a:ext cx="457200" cy="457200"/>
          </a:xfrm>
          <a:prstGeom prst="ellipse">
            <a:avLst/>
          </a:prstGeom>
          <a:solidFill>
            <a:srgbClr val="2D8653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7223760" y="169164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19 Mar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7223760" y="1005840"/>
            <a:ext cx="1463040" cy="640080"/>
          </a:xfrm>
          <a:prstGeom prst="rect">
            <a:avLst/>
          </a:prstGeom>
          <a:solidFill>
            <a:srgbClr val="2D8653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722376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Remediación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7132320" y="3200400"/>
            <a:ext cx="1645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Todas las vulnerabilidades corregidas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365760" y="4023360"/>
            <a:ext cx="8412480" cy="822960"/>
          </a:xfrm>
          <a:prstGeom prst="rect">
            <a:avLst/>
          </a:prstGeom>
          <a:solidFill>
            <a:srgbClr val="2A0A0E"/>
          </a:solidFill>
          <a:ln cap="flat" cmpd="sng" w="1905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Control total del servidor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acceso a base de datos WordPress, archivos del sistema y posibilidad de instalar backdoors o exfiltrar datos.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B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 </a:t>
            </a: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ANÁLISIS FORENSE: VULNERABILIDADES IDENTIFICADAS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65760" y="1005840"/>
            <a:ext cx="402336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365760" y="1005840"/>
            <a:ext cx="502920" cy="1371600"/>
          </a:xfrm>
          <a:prstGeom prst="rect">
            <a:avLst/>
          </a:prstGeom>
          <a:solidFill>
            <a:srgbClr val="D62839"/>
          </a:solidFill>
          <a:ln cap="flat" cmpd="sng" w="1270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365760" y="1005840"/>
            <a:ext cx="5029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3154680" y="1115568"/>
            <a:ext cx="1097280" cy="274320"/>
          </a:xfrm>
          <a:prstGeom prst="rect">
            <a:avLst/>
          </a:prstGeom>
          <a:solidFill>
            <a:srgbClr val="D62839"/>
          </a:solidFill>
          <a:ln cap="flat" cmpd="sng" w="1270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154680" y="111556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CRÍTICA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960120" y="1115568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SSH root login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960120" y="1481328"/>
            <a:ext cx="3291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Login directo como root habilitado. El atacante accedió con contraseña.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365760" y="2606040"/>
            <a:ext cx="402336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365760" y="2606040"/>
            <a:ext cx="502920" cy="1371600"/>
          </a:xfrm>
          <a:prstGeom prst="rect">
            <a:avLst/>
          </a:prstGeom>
          <a:solidFill>
            <a:srgbClr val="D62839"/>
          </a:solidFill>
          <a:ln cap="flat" cmpd="sng" w="1270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365760" y="2606040"/>
            <a:ext cx="5029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3154680" y="2715768"/>
            <a:ext cx="1097280" cy="274320"/>
          </a:xfrm>
          <a:prstGeom prst="rect">
            <a:avLst/>
          </a:prstGeom>
          <a:solidFill>
            <a:srgbClr val="D62839"/>
          </a:solidFill>
          <a:ln cap="flat" cmpd="sng" w="1270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3154680" y="271576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CRÍTICA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960120" y="2715768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Contraseña BD débil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960120" y="3081528"/>
            <a:ext cx="3291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WordPress usaba DB_PASSWORD: 123456. Acceso total a la base de datos.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4754880" y="1005840"/>
            <a:ext cx="402336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4754880" y="1005840"/>
            <a:ext cx="502920" cy="1371600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4754880" y="1005840"/>
            <a:ext cx="5029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7543800" y="1115568"/>
            <a:ext cx="1097280" cy="274320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7543800" y="111556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5349240" y="1115568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FTP anónimo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5349240" y="1481328"/>
            <a:ext cx="3291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anonymous_enable=YES + write_enable=YES + sin SSL. Subida libre de archivos.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4754880" y="2606040"/>
            <a:ext cx="4023360" cy="1371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4754880" y="2606040"/>
            <a:ext cx="502920" cy="1371600"/>
          </a:xfrm>
          <a:prstGeom prst="rect">
            <a:avLst/>
          </a:prstGeom>
          <a:solidFill>
            <a:srgbClr val="D4A017"/>
          </a:solidFill>
          <a:ln cap="flat" cmpd="sng" w="12700">
            <a:solidFill>
              <a:srgbClr val="D4A0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4754880" y="2606040"/>
            <a:ext cx="5029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7543800" y="2715768"/>
            <a:ext cx="1097280" cy="274320"/>
          </a:xfrm>
          <a:prstGeom prst="rect">
            <a:avLst/>
          </a:prstGeom>
          <a:solidFill>
            <a:srgbClr val="D4A017"/>
          </a:solidFill>
          <a:ln cap="flat" cmpd="sng" w="12700">
            <a:solidFill>
              <a:srgbClr val="D4A0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7543800" y="271576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5349240" y="2715768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info.php expuesto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5349240" y="3081528"/>
            <a:ext cx="3291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Archivo phpinfo() en directorio público. Expone configuración interna del servidor.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365760" y="4160520"/>
            <a:ext cx="8412480" cy="685800"/>
          </a:xfrm>
          <a:prstGeom prst="rect">
            <a:avLst/>
          </a:prstGeom>
          <a:solidFill>
            <a:srgbClr val="EBF0FB"/>
          </a:solidFill>
          <a:ln cap="flat" cmpd="sng" w="12700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Evidencia </a:t>
            </a:r>
            <a:r>
              <a:rPr lang="en-US" sz="1100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de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journalctl </a:t>
            </a:r>
            <a:r>
              <a:rPr lang="en-US" sz="1100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→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 Oct 08 17:40:59 </a:t>
            </a:r>
            <a:r>
              <a:rPr lang="en-US" sz="1100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onsolas"/>
                <a:ea typeface="Consolas"/>
                <a:cs typeface="Consolas"/>
                <a:sym typeface="Consolas"/>
              </a:rPr>
              <a:t> Accepted password for root from 192.168.0.134 port 45623 ssh2</a:t>
            </a:r>
            <a:endParaRPr b="0" i="1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B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 </a:t>
            </a: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PENTESTING: NUEVAS VULNERABILIDADES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365760" y="9144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Herramientas: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365760" y="1234440"/>
            <a:ext cx="1371600" cy="3657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365760" y="123444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Nmap 7.95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1920240" y="1234440"/>
            <a:ext cx="1371600" cy="3657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1920240" y="123444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Nikto 2.5.0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3474720" y="1234440"/>
            <a:ext cx="1371600" cy="3657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3474720" y="123444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curl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5029200" y="9144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Puertos abiertos detectados: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5029200" y="1234440"/>
            <a:ext cx="1234440" cy="36576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5029200" y="1234440"/>
            <a:ext cx="12344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21/tcp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5029200" y="1399032"/>
            <a:ext cx="12344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vsftpd 3.0.3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0" y="1234440"/>
            <a:ext cx="1234440" cy="36576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0" y="1234440"/>
            <a:ext cx="12344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22/tcp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0" y="1399032"/>
            <a:ext cx="12344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OpenSSH 9.2p1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7772400" y="1234440"/>
            <a:ext cx="1234440" cy="36576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7772400" y="1234440"/>
            <a:ext cx="12344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80/tcp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7772400" y="1399032"/>
            <a:ext cx="12344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Apache 2.4.62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65760" y="1828800"/>
            <a:ext cx="841248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65760" y="1828800"/>
            <a:ext cx="502920" cy="822960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65760" y="1828800"/>
            <a:ext cx="502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F-01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960120" y="190195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xmlrpc.php accesible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960120" y="228600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7B3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07B39"/>
                </a:solidFill>
                <a:latin typeface="Calibri"/>
                <a:ea typeface="Calibri"/>
                <a:cs typeface="Calibri"/>
                <a:sym typeface="Calibri"/>
              </a:rPr>
              <a:t>CVSS: 8.1  |  ALTA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389120" y="1920240"/>
            <a:ext cx="3474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Endpoint WordPress público. Permite fuerza bruta de credenciales y DDoS.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955280" y="2029968"/>
            <a:ext cx="1097280" cy="34747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955280" y="202996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REMEDIADO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365760" y="2788920"/>
            <a:ext cx="502920" cy="822960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365760" y="2788920"/>
            <a:ext cx="502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F-02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"/>
          <p:cNvSpPr/>
          <p:nvPr/>
        </p:nvSpPr>
        <p:spPr>
          <a:xfrm>
            <a:off x="960120" y="286207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Directory listing /uploads/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60120" y="324612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7B39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07B39"/>
                </a:solidFill>
                <a:latin typeface="Calibri"/>
                <a:ea typeface="Calibri"/>
                <a:cs typeface="Calibri"/>
                <a:sym typeface="Calibri"/>
              </a:rPr>
              <a:t>CVSS: 7.5  |  ALTA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4389120" y="2880360"/>
            <a:ext cx="3474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Listado de archivos habilitado en Apache. Expone todos los archivos subidos.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7955280" y="2990088"/>
            <a:ext cx="1097280" cy="34747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375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7955280" y="299008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5623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375623"/>
                </a:solidFill>
                <a:latin typeface="Calibri"/>
                <a:ea typeface="Calibri"/>
                <a:cs typeface="Calibri"/>
                <a:sym typeface="Calibri"/>
              </a:rPr>
              <a:t>REMEDIADO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365760" y="3749040"/>
            <a:ext cx="8412480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365760" y="3749040"/>
            <a:ext cx="502920" cy="822960"/>
          </a:xfrm>
          <a:prstGeom prst="rect">
            <a:avLst/>
          </a:prstGeom>
          <a:solidFill>
            <a:srgbClr val="D4A017"/>
          </a:solidFill>
          <a:ln cap="flat" cmpd="sng" w="12700">
            <a:solidFill>
              <a:srgbClr val="D4A01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365760" y="3749040"/>
            <a:ext cx="502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F-03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960120" y="382219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Headers HTTP ausentes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960120" y="420624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A017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4A017"/>
                </a:solidFill>
                <a:latin typeface="Calibri"/>
                <a:ea typeface="Calibri"/>
                <a:cs typeface="Calibri"/>
                <a:sym typeface="Calibri"/>
              </a:rPr>
              <a:t>CVSS: 6.1  |  MEDIA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4389120" y="3840480"/>
            <a:ext cx="3474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Sin X-Frame-Options ni X-Content-Type-Options. Clickjacking y MIME sniffing posibles.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7955280" y="3950208"/>
            <a:ext cx="1097280" cy="34747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3756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7955280" y="395020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5623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375623"/>
                </a:solidFill>
                <a:latin typeface="Calibri"/>
                <a:ea typeface="Calibri"/>
                <a:cs typeface="Calibri"/>
                <a:sym typeface="Calibri"/>
              </a:rPr>
              <a:t>REMEDIADO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B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 </a:t>
            </a: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ACCIONES CORRECTIVAS APLICADAS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365760" y="1005840"/>
            <a:ext cx="2560320" cy="1645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365760" y="1005840"/>
            <a:ext cx="2560320" cy="41148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438912" y="1005840"/>
            <a:ext cx="24140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🔐  SSH asegurado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475488" y="1481328"/>
            <a:ext cx="234086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PermitRootLogin 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PasswordAuthentication 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475488" y="2267712"/>
            <a:ext cx="2340864" cy="25603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475488" y="2267712"/>
            <a:ext cx="2340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Activo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3200400" y="1005840"/>
            <a:ext cx="2560320" cy="1645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3200400" y="1005840"/>
            <a:ext cx="2560320" cy="41148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3273552" y="1005840"/>
            <a:ext cx="24140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🔑  Contraseña BD robusta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3310128" y="1481328"/>
            <a:ext cx="234086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123456 → W0rdPr3ss!Secure#2024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Chmod 640 en wp-config.php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3310128" y="2267712"/>
            <a:ext cx="2340864" cy="25603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3310128" y="2267712"/>
            <a:ext cx="2340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Activo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035040" y="1005840"/>
            <a:ext cx="2560320" cy="1645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6035040" y="1005840"/>
            <a:ext cx="2560320" cy="41148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6108192" y="1005840"/>
            <a:ext cx="24140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📁  FTP endurecido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6144768" y="1481328"/>
            <a:ext cx="234086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anonymous_enable=NO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ssl_enable=YES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6144768" y="2267712"/>
            <a:ext cx="2340864" cy="25603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6144768" y="2267712"/>
            <a:ext cx="2340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Activo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65760" y="2880360"/>
            <a:ext cx="2560320" cy="1645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65760" y="2880360"/>
            <a:ext cx="2560320" cy="41148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438912" y="2880360"/>
            <a:ext cx="24140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🚫  xmlrpc bloqueado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475488" y="3355848"/>
            <a:ext cx="234086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.htaccess: Deny from 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Verificado: 403 Forbidden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475488" y="4142232"/>
            <a:ext cx="2340864" cy="25603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475488" y="4142232"/>
            <a:ext cx="2340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Activo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3200400" y="2880360"/>
            <a:ext cx="2560320" cy="1645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3200400" y="2880360"/>
            <a:ext cx="2560320" cy="41148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3273552" y="2880360"/>
            <a:ext cx="24140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🗑  info.php eliminado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3310128" y="3355848"/>
            <a:ext cx="234086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Archivo phpinfo() eliminado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del directorio público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3310128" y="4142232"/>
            <a:ext cx="2340864" cy="25603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3310128" y="4142232"/>
            <a:ext cx="2340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Activo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6035040" y="2880360"/>
            <a:ext cx="2560320" cy="1645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6035040" y="2880360"/>
            <a:ext cx="2560320" cy="411480"/>
          </a:xfrm>
          <a:prstGeom prst="rect">
            <a:avLst/>
          </a:prstGeom>
          <a:solidFill>
            <a:srgbClr val="1A3A6E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6108192" y="2880360"/>
            <a:ext cx="241401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🔒  Permisos corregidos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6144768" y="3355848"/>
            <a:ext cx="234086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wp-config: chmod 640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Propietario: www-data</a:t>
            </a:r>
            <a:endParaRPr b="0" i="0" sz="1100" u="none" cap="none" strike="noStrike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iptables DROP 192.168.0.134</a:t>
            </a:r>
            <a:endParaRPr sz="1100">
              <a:solidFill>
                <a:srgbClr val="1E27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6144768" y="4142232"/>
            <a:ext cx="2340864" cy="256032"/>
          </a:xfrm>
          <a:prstGeom prst="rect">
            <a:avLst/>
          </a:prstGeom>
          <a:solidFill>
            <a:srgbClr val="E2EFDA"/>
          </a:solidFill>
          <a:ln cap="flat" cmpd="sng" w="12700">
            <a:solidFill>
              <a:srgbClr val="2D865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144768" y="4142232"/>
            <a:ext cx="234086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Activo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B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7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 </a:t>
            </a: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ESTADO ACTUAL DE SEGURIDAD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365760" y="96012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ANTES del incidente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4846320" y="96012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DESPUÉS de las remediaciones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365760" y="1417320"/>
            <a:ext cx="3931920" cy="457200"/>
          </a:xfrm>
          <a:prstGeom prst="rect">
            <a:avLst/>
          </a:prstGeom>
          <a:solidFill>
            <a:srgbClr val="FFF0F0"/>
          </a:solidFill>
          <a:ln cap="flat" cmpd="sng" w="12700">
            <a:solidFill>
              <a:srgbClr val="F0C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457200" y="141732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  SSH: root login habilitado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4846320" y="1417320"/>
            <a:ext cx="3931920" cy="457200"/>
          </a:xfrm>
          <a:prstGeom prst="rect">
            <a:avLst/>
          </a:prstGeom>
          <a:solidFill>
            <a:srgbClr val="F0FFF0"/>
          </a:solidFill>
          <a:ln cap="flat" cmpd="sng" w="12700">
            <a:solidFill>
              <a:srgbClr val="A8D8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7"/>
          <p:cNvSpPr/>
          <p:nvPr/>
        </p:nvSpPr>
        <p:spPr>
          <a:xfrm>
            <a:off x="4937760" y="141732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 SSH: acceso root bloqueado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4297680" y="1490472"/>
            <a:ext cx="548640" cy="30175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4297680" y="1490472"/>
            <a:ext cx="54864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365760" y="1938528"/>
            <a:ext cx="3931920" cy="457200"/>
          </a:xfrm>
          <a:prstGeom prst="rect">
            <a:avLst/>
          </a:prstGeom>
          <a:solidFill>
            <a:srgbClr val="FFF0F0"/>
          </a:solidFill>
          <a:ln cap="flat" cmpd="sng" w="12700">
            <a:solidFill>
              <a:srgbClr val="F0C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7"/>
          <p:cNvSpPr/>
          <p:nvPr/>
        </p:nvSpPr>
        <p:spPr>
          <a:xfrm>
            <a:off x="457200" y="1938528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  Contraseña BD: 123456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/>
          <p:nvPr/>
        </p:nvSpPr>
        <p:spPr>
          <a:xfrm>
            <a:off x="4846320" y="1938528"/>
            <a:ext cx="3931920" cy="457200"/>
          </a:xfrm>
          <a:prstGeom prst="rect">
            <a:avLst/>
          </a:prstGeom>
          <a:solidFill>
            <a:srgbClr val="F0FFF0"/>
          </a:solidFill>
          <a:ln cap="flat" cmpd="sng" w="12700">
            <a:solidFill>
              <a:srgbClr val="A8D8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7"/>
          <p:cNvSpPr/>
          <p:nvPr/>
        </p:nvSpPr>
        <p:spPr>
          <a:xfrm>
            <a:off x="4937760" y="1938528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 Contraseña BD: 20+ chars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4297680" y="2011680"/>
            <a:ext cx="548640" cy="30175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4297680" y="2011680"/>
            <a:ext cx="54864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365760" y="2459736"/>
            <a:ext cx="3931920" cy="457200"/>
          </a:xfrm>
          <a:prstGeom prst="rect">
            <a:avLst/>
          </a:prstGeom>
          <a:solidFill>
            <a:srgbClr val="FFF0F0"/>
          </a:solidFill>
          <a:ln cap="flat" cmpd="sng" w="12700">
            <a:solidFill>
              <a:srgbClr val="F0C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457200" y="2459736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  FTP anónimo + escritura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4846320" y="2459736"/>
            <a:ext cx="3931920" cy="457200"/>
          </a:xfrm>
          <a:prstGeom prst="rect">
            <a:avLst/>
          </a:prstGeom>
          <a:solidFill>
            <a:srgbClr val="F0FFF0"/>
          </a:solidFill>
          <a:ln cap="flat" cmpd="sng" w="12700">
            <a:solidFill>
              <a:srgbClr val="A8D8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4937760" y="2459736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 FTP: auth requerida + SSL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4297680" y="2532888"/>
            <a:ext cx="548640" cy="30175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4297680" y="2532888"/>
            <a:ext cx="54864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365760" y="2980944"/>
            <a:ext cx="3931920" cy="457200"/>
          </a:xfrm>
          <a:prstGeom prst="rect">
            <a:avLst/>
          </a:prstGeom>
          <a:solidFill>
            <a:srgbClr val="FFF0F0"/>
          </a:solidFill>
          <a:ln cap="flat" cmpd="sng" w="12700">
            <a:solidFill>
              <a:srgbClr val="F0C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457200" y="2980944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  xmlrpc.php: HTTP 200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4846320" y="2980944"/>
            <a:ext cx="3931920" cy="457200"/>
          </a:xfrm>
          <a:prstGeom prst="rect">
            <a:avLst/>
          </a:prstGeom>
          <a:solidFill>
            <a:srgbClr val="F0FFF0"/>
          </a:solidFill>
          <a:ln cap="flat" cmpd="sng" w="12700">
            <a:solidFill>
              <a:srgbClr val="A8D8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4937760" y="2980944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 xmlrpc.php: HTTP 403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4297680" y="3054096"/>
            <a:ext cx="548640" cy="30175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4297680" y="3054096"/>
            <a:ext cx="54864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65760" y="3502152"/>
            <a:ext cx="3931920" cy="457200"/>
          </a:xfrm>
          <a:prstGeom prst="rect">
            <a:avLst/>
          </a:prstGeom>
          <a:solidFill>
            <a:srgbClr val="FFF0F0"/>
          </a:solidFill>
          <a:ln cap="flat" cmpd="sng" w="12700">
            <a:solidFill>
              <a:srgbClr val="F0C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457200" y="350215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  info.php: phpinfo() público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4846320" y="3502152"/>
            <a:ext cx="3931920" cy="457200"/>
          </a:xfrm>
          <a:prstGeom prst="rect">
            <a:avLst/>
          </a:prstGeom>
          <a:solidFill>
            <a:srgbClr val="F0FFF0"/>
          </a:solidFill>
          <a:ln cap="flat" cmpd="sng" w="12700">
            <a:solidFill>
              <a:srgbClr val="A8D8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4937760" y="350215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 info.php: eliminado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4297680" y="3575304"/>
            <a:ext cx="548640" cy="30175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7"/>
          <p:cNvSpPr/>
          <p:nvPr/>
        </p:nvSpPr>
        <p:spPr>
          <a:xfrm>
            <a:off x="4297680" y="3575304"/>
            <a:ext cx="54864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365760" y="4023360"/>
            <a:ext cx="3931920" cy="457200"/>
          </a:xfrm>
          <a:prstGeom prst="rect">
            <a:avLst/>
          </a:prstGeom>
          <a:solidFill>
            <a:srgbClr val="FFF0F0"/>
          </a:solidFill>
          <a:ln cap="flat" cmpd="sng" w="12700">
            <a:solidFill>
              <a:srgbClr val="F0C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457200" y="40233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  Logs: auth.log eliminado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4846320" y="4023360"/>
            <a:ext cx="3931920" cy="457200"/>
          </a:xfrm>
          <a:prstGeom prst="rect">
            <a:avLst/>
          </a:prstGeom>
          <a:solidFill>
            <a:srgbClr val="F0FFF0"/>
          </a:solidFill>
          <a:ln cap="flat" cmpd="sng" w="12700">
            <a:solidFill>
              <a:srgbClr val="A8D8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4937760" y="40233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865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2D8653"/>
                </a:solidFill>
                <a:latin typeface="Calibri"/>
                <a:ea typeface="Calibri"/>
                <a:cs typeface="Calibri"/>
                <a:sym typeface="Calibri"/>
              </a:rPr>
              <a:t>  Logs: journal activo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4297680" y="4096512"/>
            <a:ext cx="548640" cy="30175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4297680" y="4096512"/>
            <a:ext cx="54864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B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8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 </a:t>
            </a: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RECOMENDACIONES PARA LA GERENCIA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365760" y="960120"/>
            <a:ext cx="2651760" cy="3886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365760" y="960120"/>
            <a:ext cx="2651760" cy="457200"/>
          </a:xfrm>
          <a:prstGeom prst="rect">
            <a:avLst/>
          </a:prstGeom>
          <a:solidFill>
            <a:srgbClr val="D62839"/>
          </a:solidFill>
          <a:ln cap="flat" cmpd="sng" w="12700">
            <a:solidFill>
              <a:srgbClr val="D628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365760" y="96012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INMEDIATO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502920" y="15544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Instalar Fail2Ban </a:t>
            </a:r>
            <a:r>
              <a:rPr lang="en-US" sz="11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bloqueo automático de IPs con ataques de fuerza bruta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502920" y="24688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Configurar firewall UFW </a:t>
            </a:r>
            <a:r>
              <a:rPr lang="en-US" sz="11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limitar acceso a puertos 22, 21, 80 por IP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502920" y="33832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283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62839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Activar logging persistente (rsyslog) </a:t>
            </a:r>
            <a:r>
              <a:rPr lang="en-US" sz="11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evitar pérdida de evidencias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3291840" y="960120"/>
            <a:ext cx="2651760" cy="3886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3291840" y="960120"/>
            <a:ext cx="2651760" cy="457200"/>
          </a:xfrm>
          <a:prstGeom prst="rect">
            <a:avLst/>
          </a:prstGeom>
          <a:solidFill>
            <a:srgbClr val="E07B39"/>
          </a:solidFill>
          <a:ln cap="flat" cmpd="sng" w="12700">
            <a:solidFill>
              <a:srgbClr val="E07B3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3291840" y="96012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CORTO PLAZO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3429000" y="15544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7B3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07B39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Autenticación SSH por clave pública </a:t>
            </a:r>
            <a:r>
              <a:rPr lang="en-US" sz="11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eliminar contraseñas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3429000" y="24688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7B3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07B39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Deshabilitar directory listing en Apache </a:t>
            </a:r>
            <a:r>
              <a:rPr lang="en-US" sz="11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Options -Indexes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3429000" y="33832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7B3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07B39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Añadir headers de seguridad HTTP </a:t>
            </a:r>
            <a:r>
              <a:rPr lang="en-US" sz="11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 X-Frame-Options, CSP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6217920" y="960120"/>
            <a:ext cx="2651760" cy="3886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8F5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6217920" y="960120"/>
            <a:ext cx="2651760" cy="4572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6217920" y="96012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PLANIFICADO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6355080" y="15544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Auditorías de seguridad trimestrales con Nmap + Nikto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6355080" y="24688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Sistema de monitorización continua (Wazuh / OSSEC)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6355080" y="3383280"/>
            <a:ext cx="23774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› </a:t>
            </a:r>
            <a:r>
              <a:rPr b="0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Capacitación del equipo en respuesta a incidentes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761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FC3F7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457200" y="7315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CONCLUSIÓN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9" name="Google Shape;309;p9"/>
          <p:cNvCxnSpPr/>
          <p:nvPr/>
        </p:nvCxnSpPr>
        <p:spPr>
          <a:xfrm>
            <a:off x="457200" y="1325880"/>
            <a:ext cx="5029200" cy="0"/>
          </a:xfrm>
          <a:prstGeom prst="straightConnector1">
            <a:avLst/>
          </a:prstGeom>
          <a:noFill/>
          <a:ln cap="flat" cmpd="sng" w="1905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0" name="Google Shape;310;p9"/>
          <p:cNvSpPr/>
          <p:nvPr/>
        </p:nvSpPr>
        <p:spPr>
          <a:xfrm>
            <a:off x="457200" y="1463040"/>
            <a:ext cx="5486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El servidor ha sido analizado, remediado y verificado.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Todas las vulnerabilidades críticas han sido corregidas.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457200" y="2468880"/>
            <a:ext cx="1645920" cy="1371600"/>
          </a:xfrm>
          <a:prstGeom prst="rect">
            <a:avLst/>
          </a:prstGeom>
          <a:solidFill>
            <a:srgbClr val="162050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457200" y="2514600"/>
            <a:ext cx="1645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57200" y="31546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Vulnerabilidades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identificadas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2377440" y="2468880"/>
            <a:ext cx="1645920" cy="1371600"/>
          </a:xfrm>
          <a:prstGeom prst="rect">
            <a:avLst/>
          </a:prstGeom>
          <a:solidFill>
            <a:srgbClr val="162050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2377440" y="2514600"/>
            <a:ext cx="1645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377440" y="31546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Remediaciones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aplicadas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4297680" y="2468880"/>
            <a:ext cx="1645920" cy="1371600"/>
          </a:xfrm>
          <a:prstGeom prst="rect">
            <a:avLst/>
          </a:prstGeom>
          <a:solidFill>
            <a:srgbClr val="162050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4297680" y="2514600"/>
            <a:ext cx="1645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4297680" y="31546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Vectores 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ataque cerrados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457200" y="4023360"/>
            <a:ext cx="5943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El nivel de riesgo ha pasado de CRÍTICO a BAJO.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9BB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8A9BB5"/>
                </a:solidFill>
                <a:latin typeface="Calibri"/>
                <a:ea typeface="Calibri"/>
                <a:cs typeface="Calibri"/>
                <a:sym typeface="Calibri"/>
              </a:rPr>
              <a:t>Se recomienda implementar las medidas adicionales presentadas.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6675120" y="1005840"/>
            <a:ext cx="2011680" cy="3657600"/>
          </a:xfrm>
          <a:prstGeom prst="rect">
            <a:avLst/>
          </a:prstGeom>
          <a:solidFill>
            <a:srgbClr val="162050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6675120" y="1097280"/>
            <a:ext cx="2011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ESTADO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FINAL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3" name="Google Shape;323;p9"/>
          <p:cNvCxnSpPr/>
          <p:nvPr/>
        </p:nvCxnSpPr>
        <p:spPr>
          <a:xfrm>
            <a:off x="6858000" y="1828800"/>
            <a:ext cx="1645920" cy="0"/>
          </a:xfrm>
          <a:prstGeom prst="straightConnector1">
            <a:avLst/>
          </a:prstGeom>
          <a:noFill/>
          <a:ln cap="flat" cmpd="sng" w="9525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4" name="Google Shape;324;p9"/>
          <p:cNvSpPr/>
          <p:nvPr/>
        </p:nvSpPr>
        <p:spPr>
          <a:xfrm>
            <a:off x="6675120" y="19202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FFB0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7FFFB0"/>
                </a:solidFill>
                <a:latin typeface="Consolas"/>
                <a:ea typeface="Consolas"/>
                <a:cs typeface="Consolas"/>
                <a:sym typeface="Consolas"/>
              </a:rPr>
              <a:t>SSH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6675120" y="23774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FFB0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7FFFB0"/>
                </a:solidFill>
                <a:latin typeface="Consolas"/>
                <a:ea typeface="Consolas"/>
                <a:cs typeface="Consolas"/>
                <a:sym typeface="Consolas"/>
              </a:rPr>
              <a:t>FTP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6675120" y="28346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FFB0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7FFFB0"/>
                </a:solidFill>
                <a:latin typeface="Consolas"/>
                <a:ea typeface="Consolas"/>
                <a:cs typeface="Consolas"/>
                <a:sym typeface="Consolas"/>
              </a:rPr>
              <a:t>HTTP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6675120" y="32918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FFB0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7FFFB0"/>
                </a:solidFill>
                <a:latin typeface="Consolas"/>
                <a:ea typeface="Consolas"/>
                <a:cs typeface="Consolas"/>
                <a:sym typeface="Consolas"/>
              </a:rPr>
              <a:t>MariaDB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675120" y="37490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FFB0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7FFFB0"/>
                </a:solidFill>
                <a:latin typeface="Consolas"/>
                <a:ea typeface="Consolas"/>
                <a:cs typeface="Consolas"/>
                <a:sym typeface="Consolas"/>
              </a:rPr>
              <a:t>xmlrpc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